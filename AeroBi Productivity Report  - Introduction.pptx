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66" r:id="rId3"/>
    <p:sldId id="267" r:id="rId4"/>
    <p:sldId id="271" r:id="rId5"/>
    <p:sldId id="268" r:id="rId6"/>
    <p:sldId id="269" r:id="rId7"/>
    <p:sldId id="272" r:id="rId8"/>
    <p:sldId id="270"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232E45"/>
    <a:srgbClr val="4C4C4C"/>
    <a:srgbClr val="D9D9D9"/>
    <a:srgbClr val="A4A4A8"/>
    <a:srgbClr val="336699"/>
    <a:srgbClr val="FFCC33"/>
    <a:srgbClr val="E6E6E6"/>
    <a:srgbClr val="FBFBFB"/>
    <a:srgbClr val="D5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7F7CA-8280-420D-9202-97440A5E9613}" type="datetimeFigureOut">
              <a:rPr lang="en-GB" smtClean="0"/>
              <a:t>22/09/2025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3CC2A-F283-4B1D-92B3-AA8836767C4C}" type="slidenum">
              <a:rPr lang="en-GB" smtClean="0"/>
              <a:t>‹#›</a:t>
            </a:fld>
            <a:endParaRPr lang="en-GB"/>
          </a:p>
        </p:txBody>
      </p:sp>
    </p:spTree>
    <p:extLst>
      <p:ext uri="{BB962C8B-B14F-4D97-AF65-F5344CB8AC3E}">
        <p14:creationId xmlns:p14="http://schemas.microsoft.com/office/powerpoint/2010/main" val="3615227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hite yell logo">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3787" y="6308814"/>
            <a:ext cx="4114800" cy="297715"/>
          </a:xfrm>
        </p:spPr>
        <p:txBody>
          <a:bodyPr/>
          <a:lstStyle>
            <a:lvl1pPr algn="ctr">
              <a:defRPr/>
            </a:lvl1pPr>
          </a:lstStyle>
          <a:p>
            <a:r>
              <a:rPr lang="en-GB"/>
              <a:t>GKN Aerospace Overview - March 2025</a:t>
            </a:r>
            <a:endParaRPr lang="en-GB" dirty="0"/>
          </a:p>
        </p:txBody>
      </p:sp>
      <p:sp>
        <p:nvSpPr>
          <p:cNvPr id="6" name="Slide Number Placeholder 5"/>
          <p:cNvSpPr>
            <a:spLocks noGrp="1"/>
          </p:cNvSpPr>
          <p:nvPr>
            <p:ph type="sldNum" sz="quarter" idx="12"/>
          </p:nvPr>
        </p:nvSpPr>
        <p:spPr>
          <a:xfrm>
            <a:off x="10520412" y="241300"/>
            <a:ext cx="833387" cy="297715"/>
          </a:xfrm>
        </p:spPr>
        <p:txBody>
          <a:bodyPr/>
          <a:lstStyle/>
          <a:p>
            <a:fld id="{37F9C675-962A-477F-BE3A-4AB30256F56A}" type="slidenum">
              <a:rPr lang="en-GB" smtClean="0"/>
              <a:t>‹#›</a:t>
            </a:fld>
            <a:endParaRPr lang="en-GB"/>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625" y="0"/>
            <a:ext cx="12201625" cy="6862813"/>
          </a:xfrm>
          <a:prstGeom prst="rect">
            <a:avLst/>
          </a:prstGeom>
        </p:spPr>
      </p:pic>
    </p:spTree>
    <p:extLst>
      <p:ext uri="{BB962C8B-B14F-4D97-AF65-F5344CB8AC3E}">
        <p14:creationId xmlns:p14="http://schemas.microsoft.com/office/powerpoint/2010/main" val="3051131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blue yell logo">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340" y="6308814"/>
            <a:ext cx="4114800" cy="297715"/>
          </a:xfrm>
        </p:spPr>
        <p:txBody>
          <a:bodyPr/>
          <a:lstStyle>
            <a:lvl1pPr algn="ctr">
              <a:defRPr/>
            </a:lvl1pPr>
          </a:lstStyle>
          <a:p>
            <a:r>
              <a:rPr lang="en-GB"/>
              <a:t>GKN Aerospace Overview - March 2025</a:t>
            </a:r>
            <a:endParaRPr lang="en-GB" dirty="0"/>
          </a:p>
        </p:txBody>
      </p:sp>
      <p:sp>
        <p:nvSpPr>
          <p:cNvPr id="6" name="Slide Number Placeholder 5"/>
          <p:cNvSpPr>
            <a:spLocks noGrp="1"/>
          </p:cNvSpPr>
          <p:nvPr>
            <p:ph type="sldNum" sz="quarter" idx="12"/>
          </p:nvPr>
        </p:nvSpPr>
        <p:spPr>
          <a:xfrm>
            <a:off x="10520412" y="241300"/>
            <a:ext cx="833387" cy="297715"/>
          </a:xfrm>
        </p:spPr>
        <p:txBody>
          <a:bodyPr/>
          <a:lstStyle/>
          <a:p>
            <a:fld id="{37F9C675-962A-477F-BE3A-4AB30256F56A}" type="slidenum">
              <a:rPr lang="en-GB" smtClean="0"/>
              <a:t>‹#›</a:t>
            </a:fld>
            <a:endParaRPr lang="en-GB"/>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8" y="0"/>
            <a:ext cx="12193057" cy="6858594"/>
          </a:xfrm>
          <a:prstGeom prst="rect">
            <a:avLst/>
          </a:prstGeom>
        </p:spPr>
      </p:pic>
    </p:spTree>
    <p:extLst>
      <p:ext uri="{BB962C8B-B14F-4D97-AF65-F5344CB8AC3E}">
        <p14:creationId xmlns:p14="http://schemas.microsoft.com/office/powerpoint/2010/main" val="380030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Standard Text Slide defau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10515600" cy="4273550"/>
          </a:xfrm>
        </p:spPr>
        <p:txBody>
          <a:bodyPr/>
          <a:lstStyle>
            <a:lvl4pPr>
              <a:defRPr sz="16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932121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tandard Text slide with watermark">
    <p:spTree>
      <p:nvGrpSpPr>
        <p:cNvPr id="1" name=""/>
        <p:cNvGrpSpPr/>
        <p:nvPr/>
      </p:nvGrpSpPr>
      <p:grpSpPr>
        <a:xfrm>
          <a:off x="0" y="0"/>
          <a:ext cx="0" cy="0"/>
          <a:chOff x="0" y="0"/>
          <a:chExt cx="0" cy="0"/>
        </a:xfrm>
      </p:grpSpPr>
      <p:sp>
        <p:nvSpPr>
          <p:cNvPr id="15" name="Freeform 14"/>
          <p:cNvSpPr/>
          <p:nvPr userDrawn="1"/>
        </p:nvSpPr>
        <p:spPr>
          <a:xfrm rot="16200000" flipH="1">
            <a:off x="6930992" y="1596992"/>
            <a:ext cx="5462337" cy="5059680"/>
          </a:xfrm>
          <a:custGeom>
            <a:avLst/>
            <a:gdLst>
              <a:gd name="connsiteX0" fmla="*/ 0 w 4142509"/>
              <a:gd name="connsiteY0" fmla="*/ 4089861 h 4089861"/>
              <a:gd name="connsiteX1" fmla="*/ 2711349 w 4142509"/>
              <a:gd name="connsiteY1" fmla="*/ 0 h 4089861"/>
              <a:gd name="connsiteX2" fmla="*/ 4142509 w 4142509"/>
              <a:gd name="connsiteY2" fmla="*/ 2158795 h 4089861"/>
              <a:gd name="connsiteX3" fmla="*/ 4142509 w 4142509"/>
              <a:gd name="connsiteY3" fmla="*/ 4089861 h 4089861"/>
              <a:gd name="connsiteX4" fmla="*/ 3495276 w 4142509"/>
              <a:gd name="connsiteY4" fmla="*/ 4089861 h 4089861"/>
              <a:gd name="connsiteX5" fmla="*/ 2711348 w 4142509"/>
              <a:gd name="connsiteY5" fmla="*/ 2907365 h 4089861"/>
              <a:gd name="connsiteX6" fmla="*/ 1927419 w 4142509"/>
              <a:gd name="connsiteY6" fmla="*/ 4089861 h 4089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2509" h="4089861">
                <a:moveTo>
                  <a:pt x="0" y="4089861"/>
                </a:moveTo>
                <a:lnTo>
                  <a:pt x="2711349" y="0"/>
                </a:lnTo>
                <a:lnTo>
                  <a:pt x="4142509" y="2158795"/>
                </a:lnTo>
                <a:lnTo>
                  <a:pt x="4142509" y="4089861"/>
                </a:lnTo>
                <a:lnTo>
                  <a:pt x="3495276" y="4089861"/>
                </a:lnTo>
                <a:lnTo>
                  <a:pt x="2711348" y="2907365"/>
                </a:lnTo>
                <a:lnTo>
                  <a:pt x="1927419" y="4089861"/>
                </a:lnTo>
                <a:close/>
              </a:path>
            </a:pathLst>
          </a:custGeom>
          <a:solidFill>
            <a:srgbClr val="A4A4A8">
              <a:alpha val="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10515600" cy="4273550"/>
          </a:xfrm>
        </p:spPr>
        <p:txBody>
          <a:bodyPr/>
          <a:lstStyle>
            <a:lvl4pPr>
              <a:defRPr sz="16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00594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tandard Text slide - Dark Blue">
    <p:bg>
      <p:bgPr>
        <a:solidFill>
          <a:srgbClr val="232E4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10515600" cy="42735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sz="1600">
                <a:solidFill>
                  <a:schemeClr val="bg1"/>
                </a:solidFill>
              </a:defRPr>
            </a:lvl4pPr>
            <a:lvl5pPr>
              <a:defRPr sz="1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99055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ext and side image">
    <p:spTree>
      <p:nvGrpSpPr>
        <p:cNvPr id="1" name=""/>
        <p:cNvGrpSpPr/>
        <p:nvPr/>
      </p:nvGrpSpPr>
      <p:grpSpPr>
        <a:xfrm>
          <a:off x="0" y="0"/>
          <a:ext cx="0" cy="0"/>
          <a:chOff x="0" y="0"/>
          <a:chExt cx="0" cy="0"/>
        </a:xfrm>
      </p:grpSpPr>
      <p:sp>
        <p:nvSpPr>
          <p:cNvPr id="13" name="Picture Placeholder 12"/>
          <p:cNvSpPr>
            <a:spLocks noGrp="1"/>
          </p:cNvSpPr>
          <p:nvPr>
            <p:ph type="pic" sz="quarter" idx="14" hasCustomPrompt="1"/>
          </p:nvPr>
        </p:nvSpPr>
        <p:spPr>
          <a:xfrm>
            <a:off x="8113713" y="0"/>
            <a:ext cx="4078287" cy="6858000"/>
          </a:xfrm>
          <a:solidFill>
            <a:srgbClr val="A9A9A9"/>
          </a:solidFill>
        </p:spPr>
        <p:txBody>
          <a:bodyPr/>
          <a:lstStyle>
            <a:lvl1pPr>
              <a:defRPr/>
            </a:lvl1pPr>
          </a:lstStyle>
          <a:p>
            <a:r>
              <a:rPr lang="en-GB" dirty="0"/>
              <a:t>Click to add image</a:t>
            </a:r>
          </a:p>
        </p:txBody>
      </p:sp>
      <p:sp>
        <p:nvSpPr>
          <p:cNvPr id="2" name="Title 1"/>
          <p:cNvSpPr>
            <a:spLocks noGrp="1"/>
          </p:cNvSpPr>
          <p:nvPr>
            <p:ph type="title"/>
          </p:nvPr>
        </p:nvSpPr>
        <p:spPr>
          <a:xfrm>
            <a:off x="838200" y="365126"/>
            <a:ext cx="6944139" cy="1213418"/>
          </a:xfrm>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6944139" cy="42735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18256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Text and side image Dark Blue">
    <p:bg>
      <p:bgPr>
        <a:solidFill>
          <a:srgbClr val="232E45"/>
        </a:solidFill>
        <a:effectLst/>
      </p:bgPr>
    </p:bg>
    <p:spTree>
      <p:nvGrpSpPr>
        <p:cNvPr id="1" name=""/>
        <p:cNvGrpSpPr/>
        <p:nvPr/>
      </p:nvGrpSpPr>
      <p:grpSpPr>
        <a:xfrm>
          <a:off x="0" y="0"/>
          <a:ext cx="0" cy="0"/>
          <a:chOff x="0" y="0"/>
          <a:chExt cx="0" cy="0"/>
        </a:xfrm>
      </p:grpSpPr>
      <p:sp>
        <p:nvSpPr>
          <p:cNvPr id="11" name="Content Placeholder 10"/>
          <p:cNvSpPr>
            <a:spLocks noGrp="1"/>
          </p:cNvSpPr>
          <p:nvPr>
            <p:ph sz="quarter" idx="13" hasCustomPrompt="1"/>
          </p:nvPr>
        </p:nvSpPr>
        <p:spPr>
          <a:xfrm>
            <a:off x="8101013" y="0"/>
            <a:ext cx="4090987" cy="6858000"/>
          </a:xfrm>
          <a:solidFill>
            <a:schemeClr val="bg1">
              <a:lumMod val="75000"/>
            </a:schemeClr>
          </a:solidFill>
        </p:spPr>
        <p:txBody>
          <a:bodyPr anchor="ctr"/>
          <a:lstStyle>
            <a:lvl1pPr algn="ctr">
              <a:defRPr b="0"/>
            </a:lvl1pPr>
          </a:lstStyle>
          <a:p>
            <a:pPr lvl="0"/>
            <a:r>
              <a:rPr lang="en-US" dirty="0"/>
              <a:t>Click to add content</a:t>
            </a:r>
            <a:endParaRPr lang="en-GB" dirty="0"/>
          </a:p>
        </p:txBody>
      </p:sp>
      <p:sp>
        <p:nvSpPr>
          <p:cNvPr id="2" name="Title 1"/>
          <p:cNvSpPr>
            <a:spLocks noGrp="1"/>
          </p:cNvSpPr>
          <p:nvPr>
            <p:ph type="title"/>
          </p:nvPr>
        </p:nvSpPr>
        <p:spPr>
          <a:xfrm>
            <a:off x="838200" y="365126"/>
            <a:ext cx="6944139" cy="1213418"/>
          </a:xfrm>
        </p:spPr>
        <p:txBody>
          <a:bodyPr/>
          <a:lstStyle>
            <a:lvl1pPr>
              <a:defRPr>
                <a:solidFill>
                  <a:schemeClr val="bg1"/>
                </a:solidFill>
              </a:defRPr>
            </a:lvl1p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6944139" cy="427355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rgbClr val="FFCC33"/>
              </a:buClr>
              <a:defRPr>
                <a:solidFill>
                  <a:schemeClr val="bg1"/>
                </a:solidFill>
              </a:defRPr>
            </a:lvl4pPr>
            <a:lvl5pPr>
              <a:buClr>
                <a:srgbClr val="FFCC33"/>
              </a:buCl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5361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wo column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t>GKN Aerospace Overview - March 2025</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199" y="1895475"/>
            <a:ext cx="4906617" cy="42735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p:cNvSpPr>
            <a:spLocks noGrp="1"/>
          </p:cNvSpPr>
          <p:nvPr>
            <p:ph type="body" sz="quarter" idx="13"/>
          </p:nvPr>
        </p:nvSpPr>
        <p:spPr>
          <a:xfrm>
            <a:off x="6508926" y="1891089"/>
            <a:ext cx="4844873" cy="42735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08916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ext and large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3618297" cy="1213418"/>
          </a:xfrm>
        </p:spPr>
        <p:txBody>
          <a:bodyPr>
            <a:normAutofit/>
          </a:bodyPr>
          <a:lstStyle>
            <a:lvl1pPr>
              <a:defRPr sz="2400"/>
            </a:lvl1p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t>GKN Aerospace Overview - March 2025</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1895475"/>
            <a:ext cx="3618297" cy="42735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p:cNvSpPr>
            <a:spLocks noGrp="1"/>
          </p:cNvSpPr>
          <p:nvPr>
            <p:ph sz="quarter" idx="13" hasCustomPrompt="1"/>
          </p:nvPr>
        </p:nvSpPr>
        <p:spPr>
          <a:xfrm>
            <a:off x="4697413" y="0"/>
            <a:ext cx="7494587" cy="6858000"/>
          </a:xfrm>
          <a:solidFill>
            <a:schemeClr val="bg1">
              <a:lumMod val="75000"/>
            </a:schemeClr>
          </a:solidFill>
        </p:spPr>
        <p:txBody>
          <a:bodyPr anchor="ctr"/>
          <a:lstStyle>
            <a:lvl1pPr algn="ctr">
              <a:defRPr/>
            </a:lvl1pPr>
          </a:lstStyle>
          <a:p>
            <a:pPr lvl="0"/>
            <a:r>
              <a:rPr lang="en-US" dirty="0"/>
              <a:t>Click to add content</a:t>
            </a:r>
            <a:endParaRPr lang="en-GB" dirty="0"/>
          </a:p>
        </p:txBody>
      </p:sp>
    </p:spTree>
    <p:extLst>
      <p:ext uri="{BB962C8B-B14F-4D97-AF65-F5344CB8AC3E}">
        <p14:creationId xmlns:p14="http://schemas.microsoft.com/office/powerpoint/2010/main" val="1087181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Three 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t>GKN Aerospace Overview - March 2025</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p:nvPr>
        </p:nvSpPr>
        <p:spPr>
          <a:xfrm>
            <a:off x="838200" y="2175308"/>
            <a:ext cx="3310288" cy="3993717"/>
          </a:xfrm>
          <a:prstGeom prst="snip1Rect">
            <a:avLst/>
          </a:prstGeom>
          <a:solidFill>
            <a:srgbClr val="232E45"/>
          </a:solidFill>
          <a:ln>
            <a:noFill/>
          </a:ln>
        </p:spPr>
        <p:txBody>
          <a:bodyPr lIns="180000" tIns="72000" bIns="72000"/>
          <a:lstStyle>
            <a:lvl1pPr>
              <a:defRPr>
                <a:solidFill>
                  <a:schemeClr val="bg1"/>
                </a:solidFill>
              </a:defRPr>
            </a:lvl1pPr>
            <a:lvl2pPr>
              <a:defRPr>
                <a:solidFill>
                  <a:schemeClr val="bg1"/>
                </a:solidFill>
              </a:defRPr>
            </a:lvl2pPr>
            <a:lvl3pPr>
              <a:defRPr>
                <a:solidFill>
                  <a:schemeClr val="bg1"/>
                </a:solidFill>
              </a:defRPr>
            </a:lvl3pPr>
            <a:lvl4pPr>
              <a:buClr>
                <a:srgbClr val="FFCC33"/>
              </a:buClr>
              <a:defRPr>
                <a:solidFill>
                  <a:schemeClr val="bg1"/>
                </a:solidFill>
              </a:defRPr>
            </a:lvl4pPr>
            <a:lvl5pPr>
              <a:buClr>
                <a:srgbClr val="FFCC33"/>
              </a:buCl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7"/>
          <p:cNvSpPr>
            <a:spLocks noGrp="1"/>
          </p:cNvSpPr>
          <p:nvPr>
            <p:ph type="body" sz="quarter" idx="13"/>
          </p:nvPr>
        </p:nvSpPr>
        <p:spPr>
          <a:xfrm>
            <a:off x="4317887" y="2175307"/>
            <a:ext cx="3298629" cy="3993717"/>
          </a:xfrm>
          <a:prstGeom prst="snip1Rect">
            <a:avLst/>
          </a:prstGeom>
          <a:solidFill>
            <a:srgbClr val="336699"/>
          </a:solidFill>
          <a:ln>
            <a:noFill/>
          </a:ln>
        </p:spPr>
        <p:txBody>
          <a:bodyPr vert="horz" lIns="180000" tIns="72000" rIns="91440" bIns="72000" rtlCol="0">
            <a:normAutofit/>
          </a:bodyPr>
          <a:lstStyle>
            <a:lvl1pPr>
              <a:defRPr lang="en-US" dirty="0" smtClean="0">
                <a:solidFill>
                  <a:schemeClr val="bg1"/>
                </a:solidFill>
              </a:defRPr>
            </a:lvl1pPr>
            <a:lvl2pPr>
              <a:defRPr lang="en-US" dirty="0" smtClean="0">
                <a:solidFill>
                  <a:schemeClr val="bg1"/>
                </a:solidFill>
              </a:defRPr>
            </a:lvl2pPr>
            <a:lvl3pPr>
              <a:defRPr lang="en-US" dirty="0" smtClean="0">
                <a:solidFill>
                  <a:schemeClr val="bg1"/>
                </a:solidFill>
              </a:defRPr>
            </a:lvl3pPr>
            <a:lvl4pPr>
              <a:defRPr lang="en-US" dirty="0" smtClean="0">
                <a:solidFill>
                  <a:schemeClr val="bg1"/>
                </a:solidFill>
              </a:defRPr>
            </a:lvl4pPr>
            <a:lvl5pPr>
              <a:defRPr lang="en-GB" dirty="0">
                <a:solidFill>
                  <a:schemeClr val="bg1"/>
                </a:solidFill>
              </a:defRPr>
            </a:lvl5pPr>
          </a:lstStyle>
          <a:p>
            <a:pPr lvl="0"/>
            <a:r>
              <a:rPr lang="en-US" dirty="0"/>
              <a:t>Edit Master text styles</a:t>
            </a:r>
          </a:p>
          <a:p>
            <a:pPr lvl="1"/>
            <a:r>
              <a:rPr lang="en-US" dirty="0"/>
              <a:t>Second level</a:t>
            </a:r>
          </a:p>
          <a:p>
            <a:pPr lvl="2"/>
            <a:r>
              <a:rPr lang="en-US" dirty="0"/>
              <a:t>Third level</a:t>
            </a:r>
          </a:p>
          <a:p>
            <a:pPr lvl="3">
              <a:buClr>
                <a:srgbClr val="FFCC33"/>
              </a:buClr>
            </a:pPr>
            <a:r>
              <a:rPr lang="en-US" dirty="0"/>
              <a:t>Fourth level</a:t>
            </a:r>
          </a:p>
          <a:p>
            <a:pPr lvl="4">
              <a:buClr>
                <a:srgbClr val="FFCC33"/>
              </a:buClr>
            </a:pPr>
            <a:r>
              <a:rPr lang="en-US" dirty="0"/>
              <a:t>Fifth level</a:t>
            </a:r>
            <a:endParaRPr lang="en-GB" dirty="0"/>
          </a:p>
        </p:txBody>
      </p:sp>
      <p:sp>
        <p:nvSpPr>
          <p:cNvPr id="13" name="Text Placeholder 7"/>
          <p:cNvSpPr>
            <a:spLocks noGrp="1"/>
          </p:cNvSpPr>
          <p:nvPr>
            <p:ph type="body" sz="quarter" idx="14"/>
          </p:nvPr>
        </p:nvSpPr>
        <p:spPr>
          <a:xfrm>
            <a:off x="7785915" y="2175308"/>
            <a:ext cx="3298629" cy="3993716"/>
          </a:xfrm>
          <a:prstGeom prst="snip1Rect">
            <a:avLst/>
          </a:prstGeom>
          <a:solidFill>
            <a:srgbClr val="4C4C4C"/>
          </a:solidFill>
          <a:ln>
            <a:noFill/>
          </a:ln>
        </p:spPr>
        <p:txBody>
          <a:bodyPr vert="horz" lIns="180000" tIns="72000" rIns="91440" bIns="72000" rtlCol="0">
            <a:normAutofit/>
          </a:bodyPr>
          <a:lstStyle>
            <a:lvl1pPr>
              <a:defRPr lang="en-US" dirty="0" smtClean="0">
                <a:solidFill>
                  <a:schemeClr val="bg1"/>
                </a:solidFill>
              </a:defRPr>
            </a:lvl1pPr>
            <a:lvl2pPr>
              <a:defRPr lang="en-US" dirty="0" smtClean="0">
                <a:solidFill>
                  <a:schemeClr val="bg1"/>
                </a:solidFill>
              </a:defRPr>
            </a:lvl2pPr>
            <a:lvl3pPr>
              <a:defRPr lang="en-US" dirty="0" smtClean="0">
                <a:solidFill>
                  <a:schemeClr val="bg1"/>
                </a:solidFill>
              </a:defRPr>
            </a:lvl3pPr>
            <a:lvl4pPr>
              <a:defRPr lang="en-US" dirty="0" smtClean="0">
                <a:solidFill>
                  <a:schemeClr val="bg1"/>
                </a:solidFill>
              </a:defRPr>
            </a:lvl4pPr>
            <a:lvl5pPr>
              <a:defRPr lang="en-GB" dirty="0">
                <a:solidFill>
                  <a:schemeClr val="bg1"/>
                </a:solidFill>
              </a:defRPr>
            </a:lvl5pPr>
          </a:lstStyle>
          <a:p>
            <a:pPr lvl="0"/>
            <a:r>
              <a:rPr lang="en-US" dirty="0"/>
              <a:t>Edit Master text styles</a:t>
            </a:r>
          </a:p>
          <a:p>
            <a:pPr lvl="1"/>
            <a:r>
              <a:rPr lang="en-US" dirty="0"/>
              <a:t>Second level</a:t>
            </a:r>
          </a:p>
          <a:p>
            <a:pPr lvl="2"/>
            <a:r>
              <a:rPr lang="en-US" dirty="0"/>
              <a:t>Third level</a:t>
            </a:r>
          </a:p>
          <a:p>
            <a:pPr lvl="3">
              <a:buClr>
                <a:srgbClr val="FFCC33"/>
              </a:buClr>
            </a:pPr>
            <a:r>
              <a:rPr lang="en-US" dirty="0"/>
              <a:t>Fourth level</a:t>
            </a:r>
          </a:p>
          <a:p>
            <a:pPr lvl="4">
              <a:buClr>
                <a:srgbClr val="FFCC33"/>
              </a:buClr>
            </a:pPr>
            <a:r>
              <a:rPr lang="en-US" dirty="0"/>
              <a:t>Fifth level</a:t>
            </a:r>
            <a:endParaRPr lang="en-GB" dirty="0"/>
          </a:p>
        </p:txBody>
      </p:sp>
    </p:spTree>
    <p:extLst>
      <p:ext uri="{BB962C8B-B14F-4D97-AF65-F5344CB8AC3E}">
        <p14:creationId xmlns:p14="http://schemas.microsoft.com/office/powerpoint/2010/main" val="210367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four image boxes">
    <p:spTree>
      <p:nvGrpSpPr>
        <p:cNvPr id="1" name=""/>
        <p:cNvGrpSpPr/>
        <p:nvPr/>
      </p:nvGrpSpPr>
      <p:grpSpPr>
        <a:xfrm>
          <a:off x="0" y="0"/>
          <a:ext cx="0" cy="0"/>
          <a:chOff x="0" y="0"/>
          <a:chExt cx="0" cy="0"/>
        </a:xfrm>
      </p:grpSpPr>
      <p:sp>
        <p:nvSpPr>
          <p:cNvPr id="46" name="Text Placeholder 24"/>
          <p:cNvSpPr>
            <a:spLocks noGrp="1"/>
          </p:cNvSpPr>
          <p:nvPr>
            <p:ph type="body" sz="quarter" idx="20" hasCustomPrompt="1"/>
          </p:nvPr>
        </p:nvSpPr>
        <p:spPr>
          <a:xfrm>
            <a:off x="426774" y="1943669"/>
            <a:ext cx="2700000" cy="758643"/>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		        1</a:t>
            </a:r>
          </a:p>
        </p:txBody>
      </p:sp>
      <p:sp>
        <p:nvSpPr>
          <p:cNvPr id="25" name="Text Placeholder 24"/>
          <p:cNvSpPr>
            <a:spLocks noGrp="1"/>
          </p:cNvSpPr>
          <p:nvPr>
            <p:ph type="body" sz="quarter" idx="13" hasCustomPrompt="1"/>
          </p:nvPr>
        </p:nvSpPr>
        <p:spPr>
          <a:xfrm>
            <a:off x="426774" y="4620697"/>
            <a:ext cx="2700000" cy="1457960"/>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p>
          <a:p>
            <a:pPr lvl="2"/>
            <a:r>
              <a:rPr lang="en-US" dirty="0"/>
              <a:t>Sub text</a:t>
            </a:r>
          </a:p>
        </p:txBody>
      </p:sp>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t>GKN Aerospace Overview - March 2025</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26" name="Picture Placeholder 25"/>
          <p:cNvSpPr>
            <a:spLocks noGrp="1"/>
          </p:cNvSpPr>
          <p:nvPr>
            <p:ph type="pic" sz="quarter" idx="12" hasCustomPrompt="1"/>
          </p:nvPr>
        </p:nvSpPr>
        <p:spPr>
          <a:xfrm>
            <a:off x="426774" y="1943669"/>
            <a:ext cx="2700000" cy="2684731"/>
          </a:xfrm>
          <a:prstGeom prst="snip1Rect">
            <a:avLst>
              <a:gd name="adj" fmla="val 25298"/>
            </a:avLst>
          </a:prstGeom>
          <a:solidFill>
            <a:schemeClr val="bg1">
              <a:lumMod val="85000"/>
            </a:schemeClr>
          </a:solidFill>
          <a:ln>
            <a:solidFill>
              <a:srgbClr val="D9D9D9"/>
            </a:solidFill>
          </a:ln>
        </p:spPr>
        <p:txBody>
          <a:bodyPr wrap="square" anchor="ctr">
            <a:noAutofit/>
          </a:bodyPr>
          <a:lstStyle>
            <a:lvl1pPr algn="ctr">
              <a:defRPr/>
            </a:lvl1pPr>
          </a:lstStyle>
          <a:p>
            <a:r>
              <a:rPr lang="en-GB" dirty="0"/>
              <a:t>(image here)</a:t>
            </a:r>
          </a:p>
        </p:txBody>
      </p:sp>
      <p:sp>
        <p:nvSpPr>
          <p:cNvPr id="47" name="Text Placeholder 24"/>
          <p:cNvSpPr>
            <a:spLocks noGrp="1"/>
          </p:cNvSpPr>
          <p:nvPr>
            <p:ph type="body" sz="quarter" idx="21" hasCustomPrompt="1"/>
          </p:nvPr>
        </p:nvSpPr>
        <p:spPr>
          <a:xfrm>
            <a:off x="3300068" y="1943669"/>
            <a:ext cx="2700000" cy="758643"/>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		        2</a:t>
            </a:r>
          </a:p>
        </p:txBody>
      </p:sp>
      <p:sp>
        <p:nvSpPr>
          <p:cNvPr id="48" name="Text Placeholder 24"/>
          <p:cNvSpPr>
            <a:spLocks noGrp="1"/>
          </p:cNvSpPr>
          <p:nvPr>
            <p:ph type="body" sz="quarter" idx="22" hasCustomPrompt="1"/>
          </p:nvPr>
        </p:nvSpPr>
        <p:spPr>
          <a:xfrm>
            <a:off x="3300068" y="4620697"/>
            <a:ext cx="2700000" cy="1457960"/>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p>
          <a:p>
            <a:pPr lvl="2"/>
            <a:r>
              <a:rPr lang="en-US" dirty="0"/>
              <a:t>Sub text</a:t>
            </a:r>
          </a:p>
        </p:txBody>
      </p:sp>
      <p:sp>
        <p:nvSpPr>
          <p:cNvPr id="49" name="Picture Placeholder 25"/>
          <p:cNvSpPr>
            <a:spLocks noGrp="1"/>
          </p:cNvSpPr>
          <p:nvPr>
            <p:ph type="pic" sz="quarter" idx="23" hasCustomPrompt="1"/>
          </p:nvPr>
        </p:nvSpPr>
        <p:spPr>
          <a:xfrm>
            <a:off x="3300068" y="1943669"/>
            <a:ext cx="2700000" cy="2684731"/>
          </a:xfrm>
          <a:prstGeom prst="snip1Rect">
            <a:avLst>
              <a:gd name="adj" fmla="val 25298"/>
            </a:avLst>
          </a:prstGeom>
          <a:solidFill>
            <a:schemeClr val="bg1">
              <a:lumMod val="85000"/>
            </a:schemeClr>
          </a:solidFill>
          <a:ln>
            <a:solidFill>
              <a:srgbClr val="D9D9D9"/>
            </a:solidFill>
          </a:ln>
        </p:spPr>
        <p:txBody>
          <a:bodyPr wrap="square" anchor="ctr">
            <a:noAutofit/>
          </a:bodyPr>
          <a:lstStyle>
            <a:lvl1pPr algn="ctr">
              <a:defRPr/>
            </a:lvl1pPr>
          </a:lstStyle>
          <a:p>
            <a:r>
              <a:rPr lang="en-GB" dirty="0"/>
              <a:t>(image here)</a:t>
            </a:r>
          </a:p>
        </p:txBody>
      </p:sp>
      <p:sp>
        <p:nvSpPr>
          <p:cNvPr id="50" name="Text Placeholder 24"/>
          <p:cNvSpPr>
            <a:spLocks noGrp="1"/>
          </p:cNvSpPr>
          <p:nvPr>
            <p:ph type="body" sz="quarter" idx="24" hasCustomPrompt="1"/>
          </p:nvPr>
        </p:nvSpPr>
        <p:spPr>
          <a:xfrm>
            <a:off x="6173365" y="1943669"/>
            <a:ext cx="2700000" cy="758643"/>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		        3</a:t>
            </a:r>
          </a:p>
        </p:txBody>
      </p:sp>
      <p:sp>
        <p:nvSpPr>
          <p:cNvPr id="51" name="Text Placeholder 24"/>
          <p:cNvSpPr>
            <a:spLocks noGrp="1"/>
          </p:cNvSpPr>
          <p:nvPr>
            <p:ph type="body" sz="quarter" idx="25" hasCustomPrompt="1"/>
          </p:nvPr>
        </p:nvSpPr>
        <p:spPr>
          <a:xfrm>
            <a:off x="6173365" y="4620697"/>
            <a:ext cx="2700000" cy="1457960"/>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p>
          <a:p>
            <a:pPr lvl="2"/>
            <a:r>
              <a:rPr lang="en-US" dirty="0"/>
              <a:t>Sub text</a:t>
            </a:r>
          </a:p>
        </p:txBody>
      </p:sp>
      <p:sp>
        <p:nvSpPr>
          <p:cNvPr id="52" name="Picture Placeholder 25"/>
          <p:cNvSpPr>
            <a:spLocks noGrp="1"/>
          </p:cNvSpPr>
          <p:nvPr>
            <p:ph type="pic" sz="quarter" idx="26" hasCustomPrompt="1"/>
          </p:nvPr>
        </p:nvSpPr>
        <p:spPr>
          <a:xfrm>
            <a:off x="6173365" y="1943669"/>
            <a:ext cx="2700000" cy="2684731"/>
          </a:xfrm>
          <a:prstGeom prst="snip1Rect">
            <a:avLst>
              <a:gd name="adj" fmla="val 25298"/>
            </a:avLst>
          </a:prstGeom>
          <a:solidFill>
            <a:schemeClr val="bg1">
              <a:lumMod val="85000"/>
            </a:schemeClr>
          </a:solidFill>
          <a:ln>
            <a:solidFill>
              <a:srgbClr val="D9D9D9"/>
            </a:solidFill>
          </a:ln>
        </p:spPr>
        <p:txBody>
          <a:bodyPr wrap="square" anchor="ctr">
            <a:noAutofit/>
          </a:bodyPr>
          <a:lstStyle>
            <a:lvl1pPr algn="ctr">
              <a:defRPr/>
            </a:lvl1pPr>
          </a:lstStyle>
          <a:p>
            <a:r>
              <a:rPr lang="en-GB" dirty="0"/>
              <a:t>(image here)</a:t>
            </a:r>
          </a:p>
        </p:txBody>
      </p:sp>
      <p:sp>
        <p:nvSpPr>
          <p:cNvPr id="53" name="Text Placeholder 24"/>
          <p:cNvSpPr>
            <a:spLocks noGrp="1"/>
          </p:cNvSpPr>
          <p:nvPr>
            <p:ph type="body" sz="quarter" idx="27" hasCustomPrompt="1"/>
          </p:nvPr>
        </p:nvSpPr>
        <p:spPr>
          <a:xfrm>
            <a:off x="9046662" y="1943669"/>
            <a:ext cx="2700000" cy="758643"/>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		        4</a:t>
            </a:r>
          </a:p>
        </p:txBody>
      </p:sp>
      <p:sp>
        <p:nvSpPr>
          <p:cNvPr id="54" name="Text Placeholder 24"/>
          <p:cNvSpPr>
            <a:spLocks noGrp="1"/>
          </p:cNvSpPr>
          <p:nvPr>
            <p:ph type="body" sz="quarter" idx="28" hasCustomPrompt="1"/>
          </p:nvPr>
        </p:nvSpPr>
        <p:spPr>
          <a:xfrm>
            <a:off x="9046662" y="4620697"/>
            <a:ext cx="2700000" cy="1457960"/>
          </a:xfrm>
          <a:solidFill>
            <a:srgbClr val="232E45"/>
          </a:solidFill>
          <a:ln>
            <a:solidFill>
              <a:srgbClr val="232E45"/>
            </a:solidFill>
          </a:ln>
        </p:spPr>
        <p:txBody>
          <a:bodyPr>
            <a:normAutofit/>
          </a:bodyPr>
          <a:lstStyle>
            <a:lvl1pPr algn="l">
              <a:defRPr sz="1600"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p>
          <a:p>
            <a:pPr lvl="2"/>
            <a:r>
              <a:rPr lang="en-US" dirty="0"/>
              <a:t>Sub text</a:t>
            </a:r>
          </a:p>
        </p:txBody>
      </p:sp>
      <p:sp>
        <p:nvSpPr>
          <p:cNvPr id="55" name="Picture Placeholder 25"/>
          <p:cNvSpPr>
            <a:spLocks noGrp="1"/>
          </p:cNvSpPr>
          <p:nvPr>
            <p:ph type="pic" sz="quarter" idx="29" hasCustomPrompt="1"/>
          </p:nvPr>
        </p:nvSpPr>
        <p:spPr>
          <a:xfrm>
            <a:off x="9046662" y="1943669"/>
            <a:ext cx="2700000" cy="2684731"/>
          </a:xfrm>
          <a:prstGeom prst="snip1Rect">
            <a:avLst>
              <a:gd name="adj" fmla="val 25298"/>
            </a:avLst>
          </a:prstGeom>
          <a:solidFill>
            <a:schemeClr val="bg1">
              <a:lumMod val="85000"/>
            </a:schemeClr>
          </a:solidFill>
          <a:ln>
            <a:solidFill>
              <a:srgbClr val="D9D9D9"/>
            </a:solidFill>
          </a:ln>
        </p:spPr>
        <p:txBody>
          <a:bodyPr wrap="square" anchor="ctr">
            <a:noAutofit/>
          </a:bodyPr>
          <a:lstStyle>
            <a:lvl1pPr algn="ctr">
              <a:defRPr/>
            </a:lvl1pPr>
          </a:lstStyle>
          <a:p>
            <a:r>
              <a:rPr lang="en-GB" dirty="0"/>
              <a:t>(image here)</a:t>
            </a:r>
          </a:p>
        </p:txBody>
      </p:sp>
    </p:spTree>
    <p:extLst>
      <p:ext uri="{BB962C8B-B14F-4D97-AF65-F5344CB8AC3E}">
        <p14:creationId xmlns:p14="http://schemas.microsoft.com/office/powerpoint/2010/main" val="40643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dirty="0"/>
              <a:t>GKN Aerospace Overview - August 2025</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Tree>
    <p:extLst>
      <p:ext uri="{BB962C8B-B14F-4D97-AF65-F5344CB8AC3E}">
        <p14:creationId xmlns:p14="http://schemas.microsoft.com/office/powerpoint/2010/main" val="1904666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Title and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t>GKN Aerospace Overview - March 2025</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9" name="Text Placeholder 11"/>
          <p:cNvSpPr txBox="1">
            <a:spLocks/>
          </p:cNvSpPr>
          <p:nvPr userDrawn="1"/>
        </p:nvSpPr>
        <p:spPr>
          <a:xfrm>
            <a:off x="7988968" y="6481570"/>
            <a:ext cx="2628232" cy="200818"/>
          </a:xfrm>
          <a:prstGeom prst="rect">
            <a:avLst/>
          </a:prstGeom>
        </p:spPr>
        <p:txBody>
          <a:bodyPr>
            <a:noAutofit/>
          </a:bodyPr>
          <a:lstStyle>
            <a:lvl1pPr marL="0" marR="0" indent="0" algn="r" defTabSz="967710" rtl="0" eaLnBrk="1" fontAlgn="auto" latinLnBrk="0" hangingPunct="1">
              <a:lnSpc>
                <a:spcPct val="102000"/>
              </a:lnSpc>
              <a:spcBef>
                <a:spcPts val="1058"/>
              </a:spcBef>
              <a:spcAft>
                <a:spcPts val="0"/>
              </a:spcAft>
              <a:buClrTx/>
              <a:buSzTx/>
              <a:buFont typeface="Arial" panose="020B0604020202020204" pitchFamily="34" charset="0"/>
              <a:buNone/>
              <a:tabLst/>
              <a:defRPr sz="1000" b="1" kern="1200" baseline="0">
                <a:solidFill>
                  <a:srgbClr val="A9A9A9"/>
                </a:solidFill>
                <a:latin typeface="Arial" panose="020B0604020202020204" pitchFamily="34" charset="0"/>
                <a:ea typeface="+mn-ea"/>
                <a:cs typeface="Arial" panose="020B0604020202020204" pitchFamily="34" charset="0"/>
              </a:defRPr>
            </a:lvl1pPr>
            <a:lvl2pPr marL="0" marR="0" indent="0" algn="l" defTabSz="967710" rtl="0" eaLnBrk="1" fontAlgn="auto" latinLnBrk="0" hangingPunct="1">
              <a:lnSpc>
                <a:spcPct val="102000"/>
              </a:lnSpc>
              <a:spcBef>
                <a:spcPts val="529"/>
              </a:spcBef>
              <a:spcAft>
                <a:spcPts val="529"/>
              </a:spcAft>
              <a:buClrTx/>
              <a:buSzTx/>
              <a:buFont typeface="Arial" panose="020B0604020202020204" pitchFamily="34" charset="0"/>
              <a:buNone/>
              <a:tabLst/>
              <a:defRPr sz="1800" kern="1200">
                <a:solidFill>
                  <a:schemeClr val="tx1"/>
                </a:solidFill>
                <a:latin typeface="Arial" panose="020B0604020202020204" pitchFamily="34" charset="0"/>
                <a:ea typeface="+mn-ea"/>
                <a:cs typeface="Arial" panose="020B0604020202020204" pitchFamily="34" charset="0"/>
              </a:defRPr>
            </a:lvl2pPr>
            <a:lvl3pPr marL="283929" marR="0" indent="-283929" algn="l" defTabSz="967710" rtl="0" eaLnBrk="1" fontAlgn="auto" latinLnBrk="0" hangingPunct="1">
              <a:lnSpc>
                <a:spcPct val="102000"/>
              </a:lnSpc>
              <a:spcBef>
                <a:spcPts val="529"/>
              </a:spcBef>
              <a:spcAft>
                <a:spcPts val="529"/>
              </a:spcAft>
              <a:buClr>
                <a:srgbClr val="FFCC66"/>
              </a:buClr>
              <a:buSzPct val="110000"/>
              <a:buFont typeface="Univia Pro" panose="00000800000000000000" pitchFamily="50" charset="0"/>
              <a:buChar char="&gt;"/>
              <a:tabLst/>
              <a:defRPr sz="1800" kern="1200">
                <a:solidFill>
                  <a:schemeClr val="tx1"/>
                </a:solidFill>
                <a:latin typeface="Arial" panose="020B0604020202020204" pitchFamily="34" charset="0"/>
                <a:ea typeface="+mn-ea"/>
                <a:cs typeface="Arial" panose="020B0604020202020204" pitchFamily="34" charset="0"/>
              </a:defRPr>
            </a:lvl3pPr>
            <a:lvl4pPr marL="567857" marR="0" indent="-283929" algn="l" defTabSz="967710" rtl="0" eaLnBrk="1" fontAlgn="auto" latinLnBrk="0" hangingPunct="1">
              <a:lnSpc>
                <a:spcPct val="102000"/>
              </a:lnSpc>
              <a:spcBef>
                <a:spcPts val="0"/>
              </a:spcBef>
              <a:spcAft>
                <a:spcPts val="529"/>
              </a:spcAft>
              <a:buClrTx/>
              <a:buSzTx/>
              <a:buFont typeface="Univia Pro Book" panose="00000500000000000000" pitchFamily="50"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850106" marR="0" indent="-282249" algn="l" defTabSz="967710" rtl="0" eaLnBrk="1" fontAlgn="auto" latinLnBrk="0" hangingPunct="1">
              <a:lnSpc>
                <a:spcPct val="102000"/>
              </a:lnSpc>
              <a:spcBef>
                <a:spcPts val="0"/>
              </a:spcBef>
              <a:spcAft>
                <a:spcPts val="529"/>
              </a:spcAft>
              <a:buClrTx/>
              <a:buSzTx/>
              <a:buFont typeface="Univia Pro Book" panose="00000500000000000000" pitchFamily="50"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0" dirty="0"/>
              <a:t>Legally privileged and confidential</a:t>
            </a:r>
          </a:p>
        </p:txBody>
      </p:sp>
      <p:sp>
        <p:nvSpPr>
          <p:cNvPr id="8" name="Chart Placeholder 7"/>
          <p:cNvSpPr>
            <a:spLocks noGrp="1"/>
          </p:cNvSpPr>
          <p:nvPr>
            <p:ph type="chart" sz="quarter" idx="12"/>
          </p:nvPr>
        </p:nvSpPr>
        <p:spPr>
          <a:xfrm>
            <a:off x="838200" y="1782763"/>
            <a:ext cx="10515600" cy="4217987"/>
          </a:xfrm>
        </p:spPr>
        <p:txBody>
          <a:bodyPr/>
          <a:lstStyle/>
          <a:p>
            <a:endParaRPr lang="en-GB"/>
          </a:p>
        </p:txBody>
      </p:sp>
    </p:spTree>
    <p:extLst>
      <p:ext uri="{BB962C8B-B14F-4D97-AF65-F5344CB8AC3E}">
        <p14:creationId xmlns:p14="http://schemas.microsoft.com/office/powerpoint/2010/main" val="1255843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Blank ">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3" name="Footer Placeholder 2"/>
          <p:cNvSpPr>
            <a:spLocks noGrp="1"/>
          </p:cNvSpPr>
          <p:nvPr>
            <p:ph type="ftr" sz="quarter" idx="10"/>
          </p:nvPr>
        </p:nvSpPr>
        <p:spPr/>
        <p:txBody>
          <a:bodyPr/>
          <a:lstStyle/>
          <a:p>
            <a:r>
              <a:rPr lang="en-GB"/>
              <a:t>GKN Aerospace Overview - March 2025</a:t>
            </a:r>
            <a:endParaRPr lang="en-GB" dirty="0"/>
          </a:p>
        </p:txBody>
      </p:sp>
    </p:spTree>
    <p:extLst>
      <p:ext uri="{BB962C8B-B14F-4D97-AF65-F5344CB8AC3E}">
        <p14:creationId xmlns:p14="http://schemas.microsoft.com/office/powerpoint/2010/main" val="3161772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Divider with image default">
    <p:spTree>
      <p:nvGrpSpPr>
        <p:cNvPr id="1" name=""/>
        <p:cNvGrpSpPr/>
        <p:nvPr/>
      </p:nvGrpSpPr>
      <p:grpSpPr>
        <a:xfrm>
          <a:off x="0" y="0"/>
          <a:ext cx="0" cy="0"/>
          <a:chOff x="0" y="0"/>
          <a:chExt cx="0" cy="0"/>
        </a:xfrm>
      </p:grpSpPr>
      <p:sp>
        <p:nvSpPr>
          <p:cNvPr id="3" name="Rectangle 2"/>
          <p:cNvSpPr/>
          <p:nvPr userDrawn="1"/>
        </p:nvSpPr>
        <p:spPr>
          <a:xfrm>
            <a:off x="3557785" y="0"/>
            <a:ext cx="8634215" cy="6858000"/>
          </a:xfrm>
          <a:custGeom>
            <a:avLst/>
            <a:gdLst>
              <a:gd name="connsiteX0" fmla="*/ 0 w 8634215"/>
              <a:gd name="connsiteY0" fmla="*/ 0 h 6858001"/>
              <a:gd name="connsiteX1" fmla="*/ 8634215 w 8634215"/>
              <a:gd name="connsiteY1" fmla="*/ 0 h 6858001"/>
              <a:gd name="connsiteX2" fmla="*/ 8634215 w 8634215"/>
              <a:gd name="connsiteY2" fmla="*/ 6858001 h 6858001"/>
              <a:gd name="connsiteX3" fmla="*/ 0 w 8634215"/>
              <a:gd name="connsiteY3" fmla="*/ 6858001 h 6858001"/>
              <a:gd name="connsiteX4" fmla="*/ 0 w 8634215"/>
              <a:gd name="connsiteY4" fmla="*/ 0 h 6858001"/>
              <a:gd name="connsiteX0" fmla="*/ 0 w 8634215"/>
              <a:gd name="connsiteY0" fmla="*/ 8545 h 6866546"/>
              <a:gd name="connsiteX1" fmla="*/ 6885176 w 8634215"/>
              <a:gd name="connsiteY1" fmla="*/ 0 h 6866546"/>
              <a:gd name="connsiteX2" fmla="*/ 8634215 w 8634215"/>
              <a:gd name="connsiteY2" fmla="*/ 8545 h 6866546"/>
              <a:gd name="connsiteX3" fmla="*/ 8634215 w 8634215"/>
              <a:gd name="connsiteY3" fmla="*/ 6866546 h 6866546"/>
              <a:gd name="connsiteX4" fmla="*/ 0 w 8634215"/>
              <a:gd name="connsiteY4" fmla="*/ 6866546 h 6866546"/>
              <a:gd name="connsiteX5" fmla="*/ 0 w 8634215"/>
              <a:gd name="connsiteY5" fmla="*/ 8545 h 6866546"/>
              <a:gd name="connsiteX0" fmla="*/ 0 w 8634215"/>
              <a:gd name="connsiteY0" fmla="*/ 6866546 h 6866546"/>
              <a:gd name="connsiteX1" fmla="*/ 6885176 w 8634215"/>
              <a:gd name="connsiteY1" fmla="*/ 0 h 6866546"/>
              <a:gd name="connsiteX2" fmla="*/ 8634215 w 8634215"/>
              <a:gd name="connsiteY2" fmla="*/ 8545 h 6866546"/>
              <a:gd name="connsiteX3" fmla="*/ 8634215 w 8634215"/>
              <a:gd name="connsiteY3" fmla="*/ 6866546 h 6866546"/>
              <a:gd name="connsiteX4" fmla="*/ 0 w 8634215"/>
              <a:gd name="connsiteY4" fmla="*/ 6866546 h 686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4215" h="6866546">
                <a:moveTo>
                  <a:pt x="0" y="6866546"/>
                </a:moveTo>
                <a:lnTo>
                  <a:pt x="6885176" y="0"/>
                </a:lnTo>
                <a:lnTo>
                  <a:pt x="8634215" y="8545"/>
                </a:lnTo>
                <a:lnTo>
                  <a:pt x="8634215" y="6866546"/>
                </a:lnTo>
                <a:lnTo>
                  <a:pt x="0" y="6866546"/>
                </a:lnTo>
                <a:close/>
              </a:path>
            </a:pathLst>
          </a:cu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576000" bIns="828000" rtlCol="0" anchor="b"/>
          <a:lstStyle/>
          <a:p>
            <a:pPr algn="r"/>
            <a:r>
              <a:rPr lang="en-GB" dirty="0"/>
              <a:t>Size of corner image </a:t>
            </a:r>
          </a:p>
        </p:txBody>
      </p:sp>
      <p:sp>
        <p:nvSpPr>
          <p:cNvPr id="15" name="Picture Placeholder 14"/>
          <p:cNvSpPr>
            <a:spLocks noGrp="1" noChangeAspect="1"/>
          </p:cNvSpPr>
          <p:nvPr>
            <p:ph type="pic" sz="quarter" idx="13"/>
          </p:nvPr>
        </p:nvSpPr>
        <p:spPr>
          <a:xfrm>
            <a:off x="3557785" y="0"/>
            <a:ext cx="8634215" cy="6858000"/>
          </a:xfrm>
          <a:custGeom>
            <a:avLst/>
            <a:gdLst>
              <a:gd name="connsiteX0" fmla="*/ 307791 w 8623679"/>
              <a:gd name="connsiteY0" fmla="*/ 0 h 6858000"/>
              <a:gd name="connsiteX1" fmla="*/ 8623679 w 8623679"/>
              <a:gd name="connsiteY1" fmla="*/ 0 h 6858000"/>
              <a:gd name="connsiteX2" fmla="*/ 8623679 w 8623679"/>
              <a:gd name="connsiteY2" fmla="*/ 6858000 h 6858000"/>
              <a:gd name="connsiteX3" fmla="*/ 0 w 8623679"/>
              <a:gd name="connsiteY3" fmla="*/ 6858000 h 6858000"/>
              <a:gd name="connsiteX4" fmla="*/ 3561 w 8623679"/>
              <a:gd name="connsiteY4" fmla="*/ 6778642 h 6858000"/>
              <a:gd name="connsiteX5" fmla="*/ 3561 w 8623679"/>
              <a:gd name="connsiteY5" fmla="*/ 6857618 h 6858000"/>
              <a:gd name="connsiteX6" fmla="*/ 6895247 w 8623679"/>
              <a:gd name="connsiteY6" fmla="*/ 2 h 6858000"/>
              <a:gd name="connsiteX7" fmla="*/ 307791 w 8623679"/>
              <a:gd name="connsiteY7" fmla="*/ 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3679" h="6858000">
                <a:moveTo>
                  <a:pt x="307791" y="0"/>
                </a:moveTo>
                <a:lnTo>
                  <a:pt x="8623679" y="0"/>
                </a:lnTo>
                <a:lnTo>
                  <a:pt x="8623679" y="6858000"/>
                </a:lnTo>
                <a:lnTo>
                  <a:pt x="0" y="6858000"/>
                </a:lnTo>
                <a:lnTo>
                  <a:pt x="3561" y="6778642"/>
                </a:lnTo>
                <a:lnTo>
                  <a:pt x="3561" y="6857618"/>
                </a:lnTo>
                <a:lnTo>
                  <a:pt x="6895247" y="2"/>
                </a:lnTo>
                <a:lnTo>
                  <a:pt x="307791" y="2"/>
                </a:lnTo>
                <a:close/>
              </a:path>
            </a:pathLst>
          </a:custGeom>
          <a:solidFill>
            <a:schemeClr val="bg1">
              <a:lumMod val="75000"/>
            </a:schemeClr>
          </a:solidFill>
        </p:spPr>
        <p:txBody>
          <a:bodyPr wrap="square" anchor="ctr">
            <a:noAutofit/>
          </a:bodyPr>
          <a:lstStyle>
            <a:lvl1pPr algn="ctr">
              <a:spcBef>
                <a:spcPts val="0"/>
              </a:spcBef>
              <a:defRPr sz="1600"/>
            </a:lvl1pPr>
          </a:lstStyle>
          <a:p>
            <a:endParaRPr lang="en-GB" dirty="0"/>
          </a:p>
          <a:p>
            <a:endParaRPr lang="en-GB" dirty="0"/>
          </a:p>
          <a:p>
            <a:endParaRPr lang="en-GB" dirty="0"/>
          </a:p>
          <a:p>
            <a:endParaRPr lang="en-GB" dirty="0"/>
          </a:p>
          <a:p>
            <a:r>
              <a:rPr lang="en-GB" dirty="0"/>
              <a:t>(click to add </a:t>
            </a:r>
          </a:p>
          <a:p>
            <a:r>
              <a:rPr lang="en-GB" dirty="0"/>
              <a:t>image here)</a:t>
            </a:r>
          </a:p>
        </p:txBody>
      </p:sp>
      <p:sp>
        <p:nvSpPr>
          <p:cNvPr id="2" name="Title 1"/>
          <p:cNvSpPr>
            <a:spLocks noGrp="1"/>
          </p:cNvSpPr>
          <p:nvPr>
            <p:ph type="title" hasCustomPrompt="1"/>
          </p:nvPr>
        </p:nvSpPr>
        <p:spPr>
          <a:xfrm>
            <a:off x="838200" y="365126"/>
            <a:ext cx="7853413" cy="1213418"/>
          </a:xfrm>
        </p:spPr>
        <p:txBody>
          <a:bodyPr>
            <a:normAutofit/>
          </a:bodyPr>
          <a:lstStyle>
            <a:lvl1pPr>
              <a:defRPr sz="3200" baseline="0"/>
            </a:lvl1pPr>
          </a:lstStyle>
          <a:p>
            <a:r>
              <a:rPr lang="en-US" dirty="0"/>
              <a:t>Click to add Title</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hasCustomPrompt="1"/>
          </p:nvPr>
        </p:nvSpPr>
        <p:spPr>
          <a:xfrm>
            <a:off x="838200" y="1895475"/>
            <a:ext cx="4956208" cy="385712"/>
          </a:xfrm>
        </p:spPr>
        <p:txBody>
          <a:bodyPr/>
          <a:lstStyle>
            <a:lvl1pPr>
              <a:defRPr b="0"/>
            </a:lvl1pPr>
          </a:lstStyle>
          <a:p>
            <a:pPr lvl="0"/>
            <a:r>
              <a:rPr lang="en-US" dirty="0"/>
              <a:t>Click to add Sub-title</a:t>
            </a:r>
          </a:p>
        </p:txBody>
      </p:sp>
    </p:spTree>
    <p:extLst>
      <p:ext uri="{BB962C8B-B14F-4D97-AF65-F5344CB8AC3E}">
        <p14:creationId xmlns:p14="http://schemas.microsoft.com/office/powerpoint/2010/main" val="2015366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Divider with image dark blue">
    <p:bg>
      <p:bgPr>
        <a:solidFill>
          <a:srgbClr val="232E45"/>
        </a:solidFill>
        <a:effectLst/>
      </p:bgPr>
    </p:bg>
    <p:spTree>
      <p:nvGrpSpPr>
        <p:cNvPr id="1" name=""/>
        <p:cNvGrpSpPr/>
        <p:nvPr/>
      </p:nvGrpSpPr>
      <p:grpSpPr>
        <a:xfrm>
          <a:off x="0" y="0"/>
          <a:ext cx="0" cy="0"/>
          <a:chOff x="0" y="0"/>
          <a:chExt cx="0" cy="0"/>
        </a:xfrm>
      </p:grpSpPr>
      <p:sp>
        <p:nvSpPr>
          <p:cNvPr id="11" name="Rectangle 2"/>
          <p:cNvSpPr/>
          <p:nvPr userDrawn="1"/>
        </p:nvSpPr>
        <p:spPr>
          <a:xfrm>
            <a:off x="3557785" y="0"/>
            <a:ext cx="8634215" cy="6858000"/>
          </a:xfrm>
          <a:custGeom>
            <a:avLst/>
            <a:gdLst>
              <a:gd name="connsiteX0" fmla="*/ 0 w 8634215"/>
              <a:gd name="connsiteY0" fmla="*/ 0 h 6858001"/>
              <a:gd name="connsiteX1" fmla="*/ 8634215 w 8634215"/>
              <a:gd name="connsiteY1" fmla="*/ 0 h 6858001"/>
              <a:gd name="connsiteX2" fmla="*/ 8634215 w 8634215"/>
              <a:gd name="connsiteY2" fmla="*/ 6858001 h 6858001"/>
              <a:gd name="connsiteX3" fmla="*/ 0 w 8634215"/>
              <a:gd name="connsiteY3" fmla="*/ 6858001 h 6858001"/>
              <a:gd name="connsiteX4" fmla="*/ 0 w 8634215"/>
              <a:gd name="connsiteY4" fmla="*/ 0 h 6858001"/>
              <a:gd name="connsiteX0" fmla="*/ 0 w 8634215"/>
              <a:gd name="connsiteY0" fmla="*/ 8545 h 6866546"/>
              <a:gd name="connsiteX1" fmla="*/ 6885176 w 8634215"/>
              <a:gd name="connsiteY1" fmla="*/ 0 h 6866546"/>
              <a:gd name="connsiteX2" fmla="*/ 8634215 w 8634215"/>
              <a:gd name="connsiteY2" fmla="*/ 8545 h 6866546"/>
              <a:gd name="connsiteX3" fmla="*/ 8634215 w 8634215"/>
              <a:gd name="connsiteY3" fmla="*/ 6866546 h 6866546"/>
              <a:gd name="connsiteX4" fmla="*/ 0 w 8634215"/>
              <a:gd name="connsiteY4" fmla="*/ 6866546 h 6866546"/>
              <a:gd name="connsiteX5" fmla="*/ 0 w 8634215"/>
              <a:gd name="connsiteY5" fmla="*/ 8545 h 6866546"/>
              <a:gd name="connsiteX0" fmla="*/ 0 w 8634215"/>
              <a:gd name="connsiteY0" fmla="*/ 6866546 h 6866546"/>
              <a:gd name="connsiteX1" fmla="*/ 6885176 w 8634215"/>
              <a:gd name="connsiteY1" fmla="*/ 0 h 6866546"/>
              <a:gd name="connsiteX2" fmla="*/ 8634215 w 8634215"/>
              <a:gd name="connsiteY2" fmla="*/ 8545 h 6866546"/>
              <a:gd name="connsiteX3" fmla="*/ 8634215 w 8634215"/>
              <a:gd name="connsiteY3" fmla="*/ 6866546 h 6866546"/>
              <a:gd name="connsiteX4" fmla="*/ 0 w 8634215"/>
              <a:gd name="connsiteY4" fmla="*/ 6866546 h 686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4215" h="6866546">
                <a:moveTo>
                  <a:pt x="0" y="6866546"/>
                </a:moveTo>
                <a:lnTo>
                  <a:pt x="6885176" y="0"/>
                </a:lnTo>
                <a:lnTo>
                  <a:pt x="8634215" y="8545"/>
                </a:lnTo>
                <a:lnTo>
                  <a:pt x="8634215" y="6866546"/>
                </a:lnTo>
                <a:lnTo>
                  <a:pt x="0" y="6866546"/>
                </a:lnTo>
                <a:close/>
              </a:path>
            </a:pathLst>
          </a:cu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576000" bIns="828000" rtlCol="0" anchor="b"/>
          <a:lstStyle/>
          <a:p>
            <a:pPr algn="r"/>
            <a:r>
              <a:rPr lang="en-GB" dirty="0"/>
              <a:t>Size of corner image </a:t>
            </a:r>
          </a:p>
        </p:txBody>
      </p:sp>
      <p:sp>
        <p:nvSpPr>
          <p:cNvPr id="2" name="Title 1"/>
          <p:cNvSpPr>
            <a:spLocks noGrp="1"/>
          </p:cNvSpPr>
          <p:nvPr>
            <p:ph type="title" hasCustomPrompt="1"/>
          </p:nvPr>
        </p:nvSpPr>
        <p:spPr>
          <a:xfrm>
            <a:off x="838200" y="365126"/>
            <a:ext cx="7853413" cy="1213418"/>
          </a:xfrm>
        </p:spPr>
        <p:txBody>
          <a:bodyPr>
            <a:normAutofit/>
          </a:bodyPr>
          <a:lstStyle>
            <a:lvl1pPr>
              <a:defRPr sz="3200" baseline="0">
                <a:solidFill>
                  <a:schemeClr val="bg1"/>
                </a:solidFill>
              </a:defRPr>
            </a:lvl1pPr>
          </a:lstStyle>
          <a:p>
            <a:r>
              <a:rPr lang="en-US" dirty="0"/>
              <a:t>Click to add Title</a:t>
            </a:r>
            <a:endParaRPr lang="en-GB" dirty="0"/>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8" name="Text Placeholder 7"/>
          <p:cNvSpPr>
            <a:spLocks noGrp="1"/>
          </p:cNvSpPr>
          <p:nvPr>
            <p:ph type="body" sz="quarter" idx="12" hasCustomPrompt="1"/>
          </p:nvPr>
        </p:nvSpPr>
        <p:spPr>
          <a:xfrm>
            <a:off x="838200" y="1895475"/>
            <a:ext cx="4956208" cy="385712"/>
          </a:xfrm>
        </p:spPr>
        <p:txBody>
          <a:bodyPr/>
          <a:lstStyle>
            <a:lvl1pPr>
              <a:defRPr b="0">
                <a:solidFill>
                  <a:srgbClr val="FFCC33"/>
                </a:solidFill>
              </a:defRPr>
            </a:lvl1pPr>
          </a:lstStyle>
          <a:p>
            <a:pPr lvl="0"/>
            <a:r>
              <a:rPr lang="en-US" dirty="0"/>
              <a:t>Click to add Sub-title</a:t>
            </a:r>
          </a:p>
        </p:txBody>
      </p:sp>
      <p:sp>
        <p:nvSpPr>
          <p:cNvPr id="10" name="Picture Placeholder 9"/>
          <p:cNvSpPr>
            <a:spLocks noGrp="1" noChangeAspect="1"/>
          </p:cNvSpPr>
          <p:nvPr>
            <p:ph type="pic" sz="quarter" idx="13"/>
          </p:nvPr>
        </p:nvSpPr>
        <p:spPr>
          <a:xfrm>
            <a:off x="3559120" y="-1"/>
            <a:ext cx="8632880" cy="6858000"/>
          </a:xfrm>
          <a:custGeom>
            <a:avLst/>
            <a:gdLst>
              <a:gd name="connsiteX0" fmla="*/ 511550 w 8622344"/>
              <a:gd name="connsiteY0" fmla="*/ 0 h 6858000"/>
              <a:gd name="connsiteX1" fmla="*/ 8622344 w 8622344"/>
              <a:gd name="connsiteY1" fmla="*/ 0 h 6858000"/>
              <a:gd name="connsiteX2" fmla="*/ 8622344 w 8622344"/>
              <a:gd name="connsiteY2" fmla="*/ 6858000 h 6858000"/>
              <a:gd name="connsiteX3" fmla="*/ 0 w 8622344"/>
              <a:gd name="connsiteY3" fmla="*/ 6858000 h 6858000"/>
              <a:gd name="connsiteX4" fmla="*/ 2226 w 8622344"/>
              <a:gd name="connsiteY4" fmla="*/ 6828160 h 6858000"/>
              <a:gd name="connsiteX5" fmla="*/ 2226 w 8622344"/>
              <a:gd name="connsiteY5" fmla="*/ 6857618 h 6858000"/>
              <a:gd name="connsiteX6" fmla="*/ 6893912 w 8622344"/>
              <a:gd name="connsiteY6" fmla="*/ 2 h 6858000"/>
              <a:gd name="connsiteX7" fmla="*/ 511550 w 8622344"/>
              <a:gd name="connsiteY7" fmla="*/ 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2344" h="6858000">
                <a:moveTo>
                  <a:pt x="511550" y="0"/>
                </a:moveTo>
                <a:lnTo>
                  <a:pt x="8622344" y="0"/>
                </a:lnTo>
                <a:lnTo>
                  <a:pt x="8622344" y="6858000"/>
                </a:lnTo>
                <a:lnTo>
                  <a:pt x="0" y="6858000"/>
                </a:lnTo>
                <a:lnTo>
                  <a:pt x="2226" y="6828160"/>
                </a:lnTo>
                <a:lnTo>
                  <a:pt x="2226" y="6857618"/>
                </a:lnTo>
                <a:lnTo>
                  <a:pt x="6893912" y="2"/>
                </a:lnTo>
                <a:lnTo>
                  <a:pt x="511550" y="2"/>
                </a:lnTo>
                <a:close/>
              </a:path>
            </a:pathLst>
          </a:custGeom>
          <a:solidFill>
            <a:schemeClr val="bg1">
              <a:lumMod val="75000"/>
            </a:schemeClr>
          </a:solidFill>
        </p:spPr>
        <p:txBody>
          <a:bodyPr wrap="square" anchor="ctr">
            <a:noAutofit/>
          </a:bodyPr>
          <a:lstStyle>
            <a:lvl1pPr algn="ctr">
              <a:spcBef>
                <a:spcPts val="0"/>
              </a:spcBef>
              <a:defRPr sz="1600">
                <a:solidFill>
                  <a:schemeClr val="bg1"/>
                </a:solidFill>
              </a:defRPr>
            </a:lvl1pPr>
          </a:lstStyle>
          <a:p>
            <a:endParaRPr lang="en-GB" dirty="0"/>
          </a:p>
          <a:p>
            <a:endParaRPr lang="en-GB" dirty="0"/>
          </a:p>
          <a:p>
            <a:endParaRPr lang="en-GB" dirty="0"/>
          </a:p>
          <a:p>
            <a:endParaRPr lang="en-GB" dirty="0"/>
          </a:p>
          <a:p>
            <a:r>
              <a:rPr lang="en-GB" dirty="0"/>
              <a:t>(click to add </a:t>
            </a:r>
          </a:p>
          <a:p>
            <a:r>
              <a:rPr lang="en-GB" dirty="0"/>
              <a:t>image here)</a:t>
            </a:r>
          </a:p>
        </p:txBody>
      </p:sp>
    </p:spTree>
    <p:extLst>
      <p:ext uri="{BB962C8B-B14F-4D97-AF65-F5344CB8AC3E}">
        <p14:creationId xmlns:p14="http://schemas.microsoft.com/office/powerpoint/2010/main" val="3835528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17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hasCustomPrompt="1"/>
          </p:nvPr>
        </p:nvSpPr>
        <p:spPr>
          <a:xfrm>
            <a:off x="5183188" y="987425"/>
            <a:ext cx="6172200" cy="4873625"/>
          </a:xfrm>
          <a:prstGeom prst="rect">
            <a:avLst/>
          </a:prstGeom>
          <a:solidFill>
            <a:srgbClr val="A9A9A9"/>
          </a:solidFill>
        </p:spPr>
        <p:txBody>
          <a:bodyPr anchor="ctr">
            <a:normAutofit/>
          </a:bodyPr>
          <a:lstStyle>
            <a:lvl1pPr algn="ctr">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content</a:t>
            </a:r>
            <a:endParaRPr lang="en-GB"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marR="0" indent="0" algn="l" defTabSz="967710" rtl="0" eaLnBrk="1" fontAlgn="auto" latinLnBrk="0" hangingPunct="1">
              <a:lnSpc>
                <a:spcPct val="102000"/>
              </a:lnSpc>
              <a:spcBef>
                <a:spcPts val="1058"/>
              </a:spcBef>
              <a:spcAft>
                <a:spcPts val="0"/>
              </a:spcAft>
              <a:buClrTx/>
              <a:buSzTx/>
              <a:buFont typeface="Arial" panose="020B0604020202020204" pitchFamily="34" charset="0"/>
              <a:buNone/>
              <a:tabLst/>
              <a:defRPr sz="1600"/>
            </a:lvl1pPr>
            <a:lvl2pPr marL="0" marR="0" indent="0" algn="l" defTabSz="967710" rtl="0" eaLnBrk="1" fontAlgn="auto" latinLnBrk="0" hangingPunct="1">
              <a:lnSpc>
                <a:spcPct val="102000"/>
              </a:lnSpc>
              <a:spcBef>
                <a:spcPts val="529"/>
              </a:spcBef>
              <a:spcAft>
                <a:spcPts val="529"/>
              </a:spcAft>
              <a:buClrTx/>
              <a:buSzTx/>
              <a:buFont typeface="Arial" panose="020B0604020202020204" pitchFamily="34" charset="0"/>
              <a:buNone/>
              <a:tabLst/>
              <a:defRPr sz="1400"/>
            </a:lvl2pPr>
            <a:lvl3pPr marL="283929" marR="0" indent="-283929" algn="l" defTabSz="967710" rtl="0" eaLnBrk="1" fontAlgn="auto" latinLnBrk="0" hangingPunct="1">
              <a:lnSpc>
                <a:spcPct val="102000"/>
              </a:lnSpc>
              <a:spcBef>
                <a:spcPts val="529"/>
              </a:spcBef>
              <a:spcAft>
                <a:spcPts val="529"/>
              </a:spcAft>
              <a:buClr>
                <a:srgbClr val="FFCC66"/>
              </a:buClr>
              <a:buSzPct val="110000"/>
              <a:buFont typeface="Univia Pro" panose="00000800000000000000" pitchFamily="50" charset="0"/>
              <a:buChar char="&gt;"/>
              <a:tabLst/>
              <a:defRPr sz="1200"/>
            </a:lvl3pPr>
            <a:lvl4pPr marL="539750" marR="0" indent="-255588" algn="l" defTabSz="967710" rtl="0" eaLnBrk="1" fontAlgn="auto" latinLnBrk="0" hangingPunct="1">
              <a:lnSpc>
                <a:spcPct val="102000"/>
              </a:lnSpc>
              <a:spcBef>
                <a:spcPts val="0"/>
              </a:spcBef>
              <a:spcAft>
                <a:spcPts val="529"/>
              </a:spcAft>
              <a:buClr>
                <a:srgbClr val="232E45"/>
              </a:buClr>
              <a:buSzTx/>
              <a:buFont typeface="Univia Pro Book" panose="00000500000000000000" pitchFamily="50" charset="0"/>
              <a:buChar char="–"/>
              <a:tabLst/>
              <a:defRPr sz="1000"/>
            </a:lvl4pPr>
            <a:lvl5pPr marL="722313" marR="0" indent="-153988" algn="l" defTabSz="967710" rtl="0" eaLnBrk="1" fontAlgn="auto" latinLnBrk="0" hangingPunct="1">
              <a:lnSpc>
                <a:spcPct val="102000"/>
              </a:lnSpc>
              <a:spcBef>
                <a:spcPts val="0"/>
              </a:spcBef>
              <a:spcAft>
                <a:spcPts val="529"/>
              </a:spcAft>
              <a:buClr>
                <a:srgbClr val="232E45"/>
              </a:buClr>
              <a:buSzTx/>
              <a:buFont typeface="Arial" panose="020B0604020202020204" pitchFamily="34" charset="0"/>
              <a:buChar char="∙"/>
              <a:tabLst/>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67710" rtl="0" eaLnBrk="1" fontAlgn="auto" latinLnBrk="0" hangingPunct="1">
              <a:lnSpc>
                <a:spcPct val="102000"/>
              </a:lnSpc>
              <a:spcBef>
                <a:spcPts val="1058"/>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rPr>
              <a:t>Edit Master text styles</a:t>
            </a:r>
          </a:p>
          <a:p>
            <a:pPr marL="0" marR="0" lvl="1" indent="0" algn="l" defTabSz="967710" rtl="0" eaLnBrk="1" fontAlgn="auto" latinLnBrk="0" hangingPunct="1">
              <a:lnSpc>
                <a:spcPct val="102000"/>
              </a:lnSpc>
              <a:spcBef>
                <a:spcPts val="529"/>
              </a:spcBef>
              <a:spcAft>
                <a:spcPts val="529"/>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rPr>
              <a:t>Second level</a:t>
            </a:r>
          </a:p>
          <a:p>
            <a:pPr marL="283929" marR="0" lvl="2" indent="-283929" algn="l" defTabSz="967710" rtl="0" eaLnBrk="1" fontAlgn="auto" latinLnBrk="0" hangingPunct="1">
              <a:lnSpc>
                <a:spcPct val="102000"/>
              </a:lnSpc>
              <a:spcBef>
                <a:spcPts val="529"/>
              </a:spcBef>
              <a:spcAft>
                <a:spcPts val="529"/>
              </a:spcAft>
              <a:buClr>
                <a:srgbClr val="FFCC66"/>
              </a:buClr>
              <a:buSzPct val="110000"/>
              <a:buFont typeface="Univia Pro" panose="00000800000000000000" pitchFamily="50" charset="0"/>
              <a:buChar char="&gt;"/>
              <a:tabLst/>
              <a:defRPr/>
            </a:pPr>
            <a:r>
              <a:rPr kumimoji="0" lang="en-US" sz="1800" b="0"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rPr>
              <a:t>Third level</a:t>
            </a:r>
          </a:p>
          <a:p>
            <a:pPr marL="539750" marR="0" lvl="3" indent="-255588" algn="l" defTabSz="967710" rtl="0" eaLnBrk="1" fontAlgn="auto" latinLnBrk="0" hangingPunct="1">
              <a:lnSpc>
                <a:spcPct val="102000"/>
              </a:lnSpc>
              <a:spcBef>
                <a:spcPts val="0"/>
              </a:spcBef>
              <a:spcAft>
                <a:spcPts val="529"/>
              </a:spcAft>
              <a:buClr>
                <a:srgbClr val="232E45"/>
              </a:buClr>
              <a:buSzTx/>
              <a:buFont typeface="Univia Pro Book" panose="00000500000000000000" pitchFamily="50" charset="0"/>
              <a:buChar char="–"/>
              <a:tabLst/>
              <a:defRPr/>
            </a:pPr>
            <a:r>
              <a:rPr kumimoji="0" lang="en-US" sz="1800" b="0"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rPr>
              <a:t>Fourth level</a:t>
            </a:r>
          </a:p>
          <a:p>
            <a:pPr marL="722313" marR="0" lvl="4" indent="-153988" algn="l" defTabSz="967710" rtl="0" eaLnBrk="1" fontAlgn="auto" latinLnBrk="0" hangingPunct="1">
              <a:lnSpc>
                <a:spcPct val="102000"/>
              </a:lnSpc>
              <a:spcBef>
                <a:spcPts val="0"/>
              </a:spcBef>
              <a:spcAft>
                <a:spcPts val="529"/>
              </a:spcAft>
              <a:buClr>
                <a:srgbClr val="232E45"/>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rPr>
              <a:t>Fifth level</a:t>
            </a:r>
            <a:endParaRPr kumimoji="0" lang="en-GB" sz="1800" b="0" i="0" u="none" strike="noStrike" kern="1200" cap="none" spc="0" normalizeH="0" baseline="0" noProof="0" dirty="0">
              <a:ln>
                <a:noFill/>
              </a:ln>
              <a:solidFill>
                <a:srgbClr val="232E45"/>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r>
              <a:rPr lang="en-GB"/>
              <a:t>GKN Aerospace Overview - March 2025</a:t>
            </a:r>
          </a:p>
        </p:txBody>
      </p:sp>
      <p:sp>
        <p:nvSpPr>
          <p:cNvPr id="7" name="Slide Number Placeholder 6"/>
          <p:cNvSpPr>
            <a:spLocks noGrp="1"/>
          </p:cNvSpPr>
          <p:nvPr>
            <p:ph type="sldNum" sz="quarter" idx="12"/>
          </p:nvPr>
        </p:nvSpPr>
        <p:spPr/>
        <p:txBody>
          <a:bodyPr/>
          <a:lstStyle/>
          <a:p>
            <a:fld id="{37F9C675-962A-477F-BE3A-4AB30256F56A}" type="slidenum">
              <a:rPr lang="en-GB" smtClean="0"/>
              <a:t>‹#›</a:t>
            </a:fld>
            <a:endParaRPr lang="en-GB"/>
          </a:p>
        </p:txBody>
      </p:sp>
      <p:sp>
        <p:nvSpPr>
          <p:cNvPr id="8"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Tree>
    <p:extLst>
      <p:ext uri="{BB962C8B-B14F-4D97-AF65-F5344CB8AC3E}">
        <p14:creationId xmlns:p14="http://schemas.microsoft.com/office/powerpoint/2010/main" val="2420561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18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a:solidFill>
            <a:srgbClr val="A9A9A9"/>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a:t>GKN Aerospace Overview - March 2025</a:t>
            </a:r>
          </a:p>
        </p:txBody>
      </p:sp>
      <p:sp>
        <p:nvSpPr>
          <p:cNvPr id="7" name="Slide Number Placeholder 6"/>
          <p:cNvSpPr>
            <a:spLocks noGrp="1"/>
          </p:cNvSpPr>
          <p:nvPr>
            <p:ph type="sldNum" sz="quarter" idx="12"/>
          </p:nvPr>
        </p:nvSpPr>
        <p:spPr/>
        <p:txBody>
          <a:bodyPr/>
          <a:lstStyle/>
          <a:p>
            <a:fld id="{37F9C675-962A-477F-BE3A-4AB30256F56A}" type="slidenum">
              <a:rPr lang="en-GB" smtClean="0"/>
              <a:t>‹#›</a:t>
            </a:fld>
            <a:endParaRPr lang="en-GB"/>
          </a:p>
        </p:txBody>
      </p:sp>
      <p:sp>
        <p:nvSpPr>
          <p:cNvPr id="8"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Tree>
    <p:extLst>
      <p:ext uri="{BB962C8B-B14F-4D97-AF65-F5344CB8AC3E}">
        <p14:creationId xmlns:p14="http://schemas.microsoft.com/office/powerpoint/2010/main" val="548152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Full image">
    <p:bg>
      <p:bgPr>
        <a:solidFill>
          <a:schemeClr val="bg1"/>
        </a:solidFill>
        <a:effectLst/>
      </p:bgPr>
    </p:bg>
    <p:spTree>
      <p:nvGrpSpPr>
        <p:cNvPr id="1" name=""/>
        <p:cNvGrpSpPr/>
        <p:nvPr/>
      </p:nvGrpSpPr>
      <p:grpSpPr>
        <a:xfrm>
          <a:off x="0" y="0"/>
          <a:ext cx="0" cy="0"/>
          <a:chOff x="0" y="0"/>
          <a:chExt cx="0" cy="0"/>
        </a:xfrm>
      </p:grpSpPr>
      <p:sp>
        <p:nvSpPr>
          <p:cNvPr id="12" name="Picture Placeholder 11"/>
          <p:cNvSpPr>
            <a:spLocks noGrp="1" noChangeAspect="1"/>
          </p:cNvSpPr>
          <p:nvPr>
            <p:ph type="pic" sz="quarter" idx="13"/>
          </p:nvPr>
        </p:nvSpPr>
        <p:spPr>
          <a:xfrm>
            <a:off x="0" y="-2"/>
            <a:ext cx="12192000" cy="6858002"/>
          </a:xfrm>
          <a:custGeom>
            <a:avLst/>
            <a:gdLst>
              <a:gd name="connsiteX0" fmla="*/ 0 w 12192000"/>
              <a:gd name="connsiteY0" fmla="*/ 0 h 6858002"/>
              <a:gd name="connsiteX1" fmla="*/ 12192000 w 12192000"/>
              <a:gd name="connsiteY1" fmla="*/ 0 h 6858002"/>
              <a:gd name="connsiteX2" fmla="*/ 12192000 w 12192000"/>
              <a:gd name="connsiteY2" fmla="*/ 6858002 h 6858002"/>
              <a:gd name="connsiteX3" fmla="*/ 0 w 12192000"/>
              <a:gd name="connsiteY3" fmla="*/ 6858002 h 6858002"/>
              <a:gd name="connsiteX4" fmla="*/ 0 w 12192000"/>
              <a:gd name="connsiteY4" fmla="*/ 1578546 h 6858002"/>
              <a:gd name="connsiteX5" fmla="*/ 1395663 w 12192000"/>
              <a:gd name="connsiteY5" fmla="*/ 462015 h 6858002"/>
              <a:gd name="connsiteX6" fmla="*/ 819764 w 12192000"/>
              <a:gd name="connsiteY6" fmla="*/ 2 h 6858002"/>
              <a:gd name="connsiteX7" fmla="*/ 0 w 12192000"/>
              <a:gd name="connsiteY7" fmla="*/ 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2">
                <a:moveTo>
                  <a:pt x="0" y="0"/>
                </a:moveTo>
                <a:lnTo>
                  <a:pt x="12192000" y="0"/>
                </a:lnTo>
                <a:lnTo>
                  <a:pt x="12192000" y="6858002"/>
                </a:lnTo>
                <a:lnTo>
                  <a:pt x="0" y="6858002"/>
                </a:lnTo>
                <a:lnTo>
                  <a:pt x="0" y="1578546"/>
                </a:lnTo>
                <a:lnTo>
                  <a:pt x="1395663" y="462015"/>
                </a:lnTo>
                <a:lnTo>
                  <a:pt x="819764" y="2"/>
                </a:lnTo>
                <a:lnTo>
                  <a:pt x="0" y="2"/>
                </a:lnTo>
                <a:close/>
              </a:path>
            </a:pathLst>
          </a:custGeom>
          <a:solidFill>
            <a:schemeClr val="bg2">
              <a:lumMod val="90000"/>
            </a:schemeClr>
          </a:solidFill>
        </p:spPr>
        <p:txBody>
          <a:bodyPr wrap="square" anchor="ctr">
            <a:noAutofit/>
          </a:bodyPr>
          <a:lstStyle>
            <a:lvl1pPr algn="ctr">
              <a:defRPr sz="1600" b="0"/>
            </a:lvl1pPr>
          </a:lstStyle>
          <a:p>
            <a:endParaRPr lang="en-GB" dirty="0"/>
          </a:p>
          <a:p>
            <a:endParaRPr lang="en-GB" dirty="0"/>
          </a:p>
          <a:p>
            <a:r>
              <a:rPr lang="en-GB" dirty="0"/>
              <a:t>Click to add picture</a:t>
            </a:r>
          </a:p>
        </p:txBody>
      </p:sp>
      <p:sp>
        <p:nvSpPr>
          <p:cNvPr id="4" name="Slide Number Placeholder 3"/>
          <p:cNvSpPr>
            <a:spLocks noGrp="1"/>
          </p:cNvSpPr>
          <p:nvPr>
            <p:ph type="sldNum" sz="quarter" idx="11"/>
          </p:nvPr>
        </p:nvSpPr>
        <p:spPr/>
        <p:txBody>
          <a:bodyPr/>
          <a:lstStyle/>
          <a:p>
            <a:fld id="{37F9C675-962A-477F-BE3A-4AB30256F56A}" type="slidenum">
              <a:rPr lang="en-GB" smtClean="0"/>
              <a:t>‹#›</a:t>
            </a:fld>
            <a:endParaRPr lang="en-GB"/>
          </a:p>
        </p:txBody>
      </p:sp>
      <p:sp>
        <p:nvSpPr>
          <p:cNvPr id="5" name="Freeform 5">
            <a:extLst>
              <a:ext uri="{FF2B5EF4-FFF2-40B4-BE49-F238E27FC236}">
                <a16:creationId xmlns:a16="http://schemas.microsoft.com/office/drawing/2014/main" id="{995D36C2-6CF6-4A30-8C8B-1BDE90C70BB7}"/>
              </a:ext>
            </a:extLst>
          </p:cNvPr>
          <p:cNvSpPr>
            <a:spLocks/>
          </p:cNvSpPr>
          <p:nvPr userDrawn="1"/>
        </p:nvSpPr>
        <p:spPr bwMode="auto">
          <a:xfrm>
            <a:off x="-1" y="-1"/>
            <a:ext cx="1395663" cy="1578544"/>
          </a:xfrm>
          <a:custGeom>
            <a:avLst/>
            <a:gdLst>
              <a:gd name="T0" fmla="*/ 0 w 4258"/>
              <a:gd name="T1" fmla="*/ 4059 h 4059"/>
              <a:gd name="T2" fmla="*/ 4258 w 4258"/>
              <a:gd name="T3" fmla="*/ 1188 h 4059"/>
              <a:gd name="T4" fmla="*/ 2501 w 4258"/>
              <a:gd name="T5" fmla="*/ 0 h 4059"/>
              <a:gd name="T6" fmla="*/ 0 w 4258"/>
              <a:gd name="T7" fmla="*/ 0 h 4059"/>
              <a:gd name="T8" fmla="*/ 0 w 4258"/>
              <a:gd name="T9" fmla="*/ 4059 h 4059"/>
            </a:gdLst>
            <a:ahLst/>
            <a:cxnLst>
              <a:cxn ang="0">
                <a:pos x="T0" y="T1"/>
              </a:cxn>
              <a:cxn ang="0">
                <a:pos x="T2" y="T3"/>
              </a:cxn>
              <a:cxn ang="0">
                <a:pos x="T4" y="T5"/>
              </a:cxn>
              <a:cxn ang="0">
                <a:pos x="T6" y="T7"/>
              </a:cxn>
              <a:cxn ang="0">
                <a:pos x="T8" y="T9"/>
              </a:cxn>
            </a:cxnLst>
            <a:rect l="0" t="0" r="r" b="b"/>
            <a:pathLst>
              <a:path w="4258" h="4059">
                <a:moveTo>
                  <a:pt x="0" y="4059"/>
                </a:moveTo>
                <a:lnTo>
                  <a:pt x="4258" y="1188"/>
                </a:lnTo>
                <a:lnTo>
                  <a:pt x="2501" y="0"/>
                </a:lnTo>
                <a:lnTo>
                  <a:pt x="0" y="0"/>
                </a:lnTo>
                <a:lnTo>
                  <a:pt x="0" y="4059"/>
                </a:lnTo>
                <a:close/>
              </a:path>
            </a:pathLst>
          </a:custGeom>
          <a:solidFill>
            <a:srgbClr val="232E45"/>
          </a:solidFill>
          <a:ln>
            <a:noFill/>
          </a:ln>
        </p:spPr>
        <p:txBody>
          <a:bodyPr vert="horz" wrap="square" lIns="91440" tIns="45720" rIns="91440" bIns="45720" numCol="1" anchor="t" anchorCtr="0" compatLnSpc="1">
            <a:prstTxWarp prst="textNoShape">
              <a:avLst/>
            </a:prstTxWarp>
          </a:bodyPr>
          <a:lstStyle/>
          <a:p>
            <a:endParaRPr lang="ar-AE"/>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7511" y="365125"/>
            <a:ext cx="822887" cy="286121"/>
          </a:xfrm>
          <a:prstGeom prst="rect">
            <a:avLst/>
          </a:prstGeom>
        </p:spPr>
      </p:pic>
      <p:sp>
        <p:nvSpPr>
          <p:cNvPr id="13" name="Title 1"/>
          <p:cNvSpPr>
            <a:spLocks noGrp="1"/>
          </p:cNvSpPr>
          <p:nvPr>
            <p:ph type="title"/>
          </p:nvPr>
        </p:nvSpPr>
        <p:spPr>
          <a:xfrm>
            <a:off x="838200" y="365126"/>
            <a:ext cx="10515600" cy="1213418"/>
          </a:xfrm>
        </p:spPr>
        <p:txBody>
          <a:bodyPr/>
          <a:lstStyle/>
          <a:p>
            <a:r>
              <a:rPr lang="en-US" dirty="0"/>
              <a:t>Click to edit Master title style</a:t>
            </a:r>
            <a:endParaRPr lang="en-GB" dirty="0"/>
          </a:p>
        </p:txBody>
      </p:sp>
    </p:spTree>
    <p:extLst>
      <p:ext uri="{BB962C8B-B14F-4D97-AF65-F5344CB8AC3E}">
        <p14:creationId xmlns:p14="http://schemas.microsoft.com/office/powerpoint/2010/main" val="368017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213418"/>
          </a:xfrm>
          <a:prstGeom prst="rect">
            <a:avLst/>
          </a:prstGeom>
        </p:spPr>
        <p:txBody>
          <a:bodyPr vert="horz" lIns="91440" tIns="45720" rIns="91440" bIns="45720" rtlCol="0" anchor="b">
            <a:normAutofit/>
          </a:bodyPr>
          <a:lstStyle/>
          <a:p>
            <a:r>
              <a:rPr lang="en-US" dirty="0"/>
              <a:t>Click to edit Master title style</a:t>
            </a:r>
            <a:endParaRPr lang="en-GB" dirty="0"/>
          </a:p>
        </p:txBody>
      </p:sp>
      <p:sp>
        <p:nvSpPr>
          <p:cNvPr id="5" name="Footer Placeholder 4"/>
          <p:cNvSpPr>
            <a:spLocks noGrp="1"/>
          </p:cNvSpPr>
          <p:nvPr>
            <p:ph type="ftr" sz="quarter" idx="3"/>
          </p:nvPr>
        </p:nvSpPr>
        <p:spPr>
          <a:xfrm>
            <a:off x="838200" y="6481570"/>
            <a:ext cx="4802204" cy="200819"/>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GB"/>
              <a:t>GKN Aerospace Overview - March 2025</a:t>
            </a:r>
            <a:endParaRPr lang="en-GB" dirty="0"/>
          </a:p>
        </p:txBody>
      </p:sp>
      <p:sp>
        <p:nvSpPr>
          <p:cNvPr id="6" name="Slide Number Placeholder 5"/>
          <p:cNvSpPr>
            <a:spLocks noGrp="1"/>
          </p:cNvSpPr>
          <p:nvPr>
            <p:ph type="sldNum" sz="quarter" idx="4"/>
          </p:nvPr>
        </p:nvSpPr>
        <p:spPr>
          <a:xfrm>
            <a:off x="10741794" y="6481571"/>
            <a:ext cx="612006" cy="200818"/>
          </a:xfrm>
          <a:prstGeom prst="rect">
            <a:avLst/>
          </a:prstGeom>
        </p:spPr>
        <p:txBody>
          <a:bodyPr vert="horz" lIns="91440" tIns="45720" rIns="91440" bIns="45720" rtlCol="0" anchor="ctr"/>
          <a:lstStyle>
            <a:lvl1pPr algn="r">
              <a:defRPr sz="1000">
                <a:solidFill>
                  <a:schemeClr val="tx1">
                    <a:tint val="75000"/>
                  </a:schemeClr>
                </a:solidFill>
              </a:defRPr>
            </a:lvl1pPr>
          </a:lstStyle>
          <a:p>
            <a:fld id="{37F9C675-962A-477F-BE3A-4AB30256F56A}" type="slidenum">
              <a:rPr lang="en-GB" smtClean="0"/>
              <a:pPr/>
              <a:t>‹#›</a:t>
            </a:fld>
            <a:endParaRPr lang="en-GB"/>
          </a:p>
        </p:txBody>
      </p:sp>
      <p:sp>
        <p:nvSpPr>
          <p:cNvPr id="9" name="Text Placeholder 8"/>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6398722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82" r:id="rId4"/>
    <p:sldLayoutId id="2147483678" r:id="rId5"/>
    <p:sldLayoutId id="2147483672" r:id="rId6"/>
    <p:sldLayoutId id="2147483675" r:id="rId7"/>
    <p:sldLayoutId id="2147483671" r:id="rId8"/>
    <p:sldLayoutId id="2147483670" r:id="rId9"/>
    <p:sldLayoutId id="2147483673" r:id="rId10"/>
    <p:sldLayoutId id="2147483674" r:id="rId11"/>
    <p:sldLayoutId id="2147483668" r:id="rId12"/>
    <p:sldLayoutId id="2147483679" r:id="rId13"/>
    <p:sldLayoutId id="2147483669" r:id="rId14"/>
    <p:sldLayoutId id="2147483666" r:id="rId15"/>
    <p:sldLayoutId id="2147483667" r:id="rId16"/>
    <p:sldLayoutId id="2147483656" r:id="rId17"/>
    <p:sldLayoutId id="2147483657" r:id="rId18"/>
    <p:sldLayoutId id="2147483681" r:id="rId19"/>
  </p:sldLayoutIdLst>
  <p:hf hdr="0" dt="0"/>
  <p:txStyles>
    <p:title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p:titleStyle>
    <p:bodyStyle>
      <a:lvl1pPr marL="0" marR="0" indent="0" algn="l" defTabSz="967710" rtl="0" eaLnBrk="1" fontAlgn="auto" latinLnBrk="0" hangingPunct="1">
        <a:lnSpc>
          <a:spcPct val="102000"/>
        </a:lnSpc>
        <a:spcBef>
          <a:spcPts val="1058"/>
        </a:spcBef>
        <a:spcAft>
          <a:spcPts val="0"/>
        </a:spcAft>
        <a:buClrTx/>
        <a:buSzTx/>
        <a:buFont typeface="Arial" panose="020B0604020202020204" pitchFamily="34" charset="0"/>
        <a:buNone/>
        <a:tabLst/>
        <a:defRPr sz="2000" b="1" kern="1200">
          <a:solidFill>
            <a:srgbClr val="232E45"/>
          </a:solidFill>
          <a:latin typeface="Arial" panose="020B0604020202020204" pitchFamily="34" charset="0"/>
          <a:ea typeface="+mn-ea"/>
          <a:cs typeface="Arial" panose="020B0604020202020204" pitchFamily="34" charset="0"/>
        </a:defRPr>
      </a:lvl1pPr>
      <a:lvl2pPr marL="0" marR="0" indent="0" algn="l" defTabSz="967710" rtl="0" eaLnBrk="1" fontAlgn="auto" latinLnBrk="0" hangingPunct="1">
        <a:lnSpc>
          <a:spcPct val="102000"/>
        </a:lnSpc>
        <a:spcBef>
          <a:spcPts val="529"/>
        </a:spcBef>
        <a:spcAft>
          <a:spcPts val="529"/>
        </a:spcAft>
        <a:buClrTx/>
        <a:buSzTx/>
        <a:buFont typeface="Arial" panose="020B0604020202020204" pitchFamily="34" charset="0"/>
        <a:buNone/>
        <a:tabLst/>
        <a:defRPr sz="1800" b="0" kern="1200">
          <a:solidFill>
            <a:srgbClr val="232E45"/>
          </a:solidFill>
          <a:latin typeface="Arial" panose="020B0604020202020204" pitchFamily="34" charset="0"/>
          <a:ea typeface="+mn-ea"/>
          <a:cs typeface="Arial" panose="020B0604020202020204" pitchFamily="34" charset="0"/>
        </a:defRPr>
      </a:lvl2pPr>
      <a:lvl3pPr marL="283929" marR="0" indent="-283929" algn="l" defTabSz="967710" rtl="0" eaLnBrk="1" fontAlgn="auto" latinLnBrk="0" hangingPunct="1">
        <a:lnSpc>
          <a:spcPct val="102000"/>
        </a:lnSpc>
        <a:spcBef>
          <a:spcPts val="529"/>
        </a:spcBef>
        <a:spcAft>
          <a:spcPts val="529"/>
        </a:spcAft>
        <a:buClr>
          <a:srgbClr val="FFCC66"/>
        </a:buClr>
        <a:buSzPct val="110000"/>
        <a:buFont typeface="Univia Pro" panose="00000800000000000000" pitchFamily="50" charset="0"/>
        <a:buChar char="&gt;"/>
        <a:tabLst/>
        <a:defRPr sz="1800" kern="1200">
          <a:solidFill>
            <a:srgbClr val="232E45"/>
          </a:solidFill>
          <a:latin typeface="Arial" panose="020B0604020202020204" pitchFamily="34" charset="0"/>
          <a:ea typeface="+mn-ea"/>
          <a:cs typeface="Arial" panose="020B0604020202020204" pitchFamily="34" charset="0"/>
        </a:defRPr>
      </a:lvl3pPr>
      <a:lvl4pPr marL="539750" marR="0" indent="-255588" algn="l" defTabSz="967710" rtl="0" eaLnBrk="1" fontAlgn="auto" latinLnBrk="0" hangingPunct="1">
        <a:lnSpc>
          <a:spcPct val="102000"/>
        </a:lnSpc>
        <a:spcBef>
          <a:spcPts val="0"/>
        </a:spcBef>
        <a:spcAft>
          <a:spcPts val="529"/>
        </a:spcAft>
        <a:buClr>
          <a:srgbClr val="232E45"/>
        </a:buClr>
        <a:buSzTx/>
        <a:buFont typeface="Univia Pro Book" panose="00000500000000000000" pitchFamily="50" charset="0"/>
        <a:buChar char="–"/>
        <a:tabLst/>
        <a:defRPr sz="1600" kern="1200">
          <a:solidFill>
            <a:srgbClr val="232E45"/>
          </a:solidFill>
          <a:latin typeface="Arial" panose="020B0604020202020204" pitchFamily="34" charset="0"/>
          <a:ea typeface="+mn-ea"/>
          <a:cs typeface="Arial" panose="020B0604020202020204" pitchFamily="34" charset="0"/>
        </a:defRPr>
      </a:lvl4pPr>
      <a:lvl5pPr marL="722313" marR="0" indent="-153988" algn="l" defTabSz="967710" rtl="0" eaLnBrk="1" fontAlgn="auto" latinLnBrk="0" hangingPunct="1">
        <a:lnSpc>
          <a:spcPct val="102000"/>
        </a:lnSpc>
        <a:spcBef>
          <a:spcPts val="0"/>
        </a:spcBef>
        <a:spcAft>
          <a:spcPts val="529"/>
        </a:spcAft>
        <a:buClr>
          <a:srgbClr val="232E45"/>
        </a:buClr>
        <a:buSzTx/>
        <a:buFont typeface="Arial" panose="020B0604020202020204" pitchFamily="34" charset="0"/>
        <a:buChar char="∙"/>
        <a:tabLst/>
        <a:defRPr sz="1400" kern="1200">
          <a:solidFill>
            <a:srgbClr val="232E4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hyperlink" Target="http://www.microsoft.com/en-us/microsoft-fabric/getting-started" TargetMode="Externa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1.wdp"/><Relationship Id="rId7" Type="http://schemas.openxmlformats.org/officeDocument/2006/relationships/image" Target="../media/image14.jpe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5" Type="http://schemas.microsoft.com/office/2007/relationships/hdphoto" Target="../media/hdphoto2.wdp"/><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Text Placeholder 6"/>
          <p:cNvSpPr txBox="1">
            <a:spLocks/>
          </p:cNvSpPr>
          <p:nvPr/>
        </p:nvSpPr>
        <p:spPr>
          <a:xfrm>
            <a:off x="5497144" y="4268802"/>
            <a:ext cx="6128119" cy="76169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sz="36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Introducing </a:t>
            </a:r>
            <a:r>
              <a:rPr lang="en-US" sz="4000" dirty="0">
                <a:latin typeface="Segoe UI" panose="020B0502040204020203" pitchFamily="34" charset="0"/>
                <a:cs typeface="Segoe UI" panose="020B0502040204020203" pitchFamily="34" charset="0"/>
              </a:rPr>
              <a:t>Aero</a:t>
            </a:r>
            <a:r>
              <a:rPr lang="en-US" sz="4000" b="1" dirty="0">
                <a:solidFill>
                  <a:srgbClr val="FFCC33"/>
                </a:solidFill>
                <a:latin typeface="Century Gothic" panose="020B0502020202020204" pitchFamily="34" charset="0"/>
              </a:rPr>
              <a:t>Bi</a:t>
            </a:r>
          </a:p>
        </p:txBody>
      </p:sp>
      <p:sp>
        <p:nvSpPr>
          <p:cNvPr id="6" name="Text Placeholder 25"/>
          <p:cNvSpPr txBox="1">
            <a:spLocks/>
          </p:cNvSpPr>
          <p:nvPr/>
        </p:nvSpPr>
        <p:spPr>
          <a:xfrm>
            <a:off x="4500438" y="5030492"/>
            <a:ext cx="7124825" cy="625475"/>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2800" kern="1200">
                <a:solidFill>
                  <a:srgbClr val="FFCC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600" dirty="0">
                <a:solidFill>
                  <a:schemeClr val="bg1"/>
                </a:solidFill>
                <a:latin typeface="Arial" panose="020B0604020202020204" pitchFamily="34" charset="0"/>
                <a:cs typeface="Arial" panose="020B0604020202020204" pitchFamily="34" charset="0"/>
              </a:rPr>
              <a:t>GKN Filton </a:t>
            </a:r>
            <a:r>
              <a:rPr lang="en-GB" sz="4400" dirty="0">
                <a:solidFill>
                  <a:srgbClr val="FFC000"/>
                </a:solidFill>
                <a:latin typeface="Arial" panose="020B0604020202020204" pitchFamily="34" charset="0"/>
                <a:cs typeface="Arial" panose="020B0604020202020204" pitchFamily="34" charset="0"/>
              </a:rPr>
              <a:t>|</a:t>
            </a:r>
            <a:r>
              <a:rPr lang="en-GB" sz="3600" dirty="0">
                <a:solidFill>
                  <a:schemeClr val="bg1"/>
                </a:solidFill>
                <a:latin typeface="Arial" panose="020B0604020202020204" pitchFamily="34" charset="0"/>
                <a:cs typeface="Arial" panose="020B0604020202020204" pitchFamily="34" charset="0"/>
              </a:rPr>
              <a:t> Productivity Tracker</a:t>
            </a:r>
          </a:p>
        </p:txBody>
      </p:sp>
      <p:sp>
        <p:nvSpPr>
          <p:cNvPr id="3" name="Slide Number Placeholder 2"/>
          <p:cNvSpPr>
            <a:spLocks noGrp="1"/>
          </p:cNvSpPr>
          <p:nvPr>
            <p:ph type="sldNum" sz="quarter" idx="12"/>
          </p:nvPr>
        </p:nvSpPr>
        <p:spPr/>
        <p:txBody>
          <a:bodyPr/>
          <a:lstStyle/>
          <a:p>
            <a:fld id="{37F9C675-962A-477F-BE3A-4AB30256F56A}" type="slidenum">
              <a:rPr lang="en-GB" smtClean="0"/>
              <a:t>1</a:t>
            </a:fld>
            <a:endParaRPr lang="en-GB"/>
          </a:p>
        </p:txBody>
      </p:sp>
    </p:spTree>
    <p:extLst>
      <p:ext uri="{BB962C8B-B14F-4D97-AF65-F5344CB8AC3E}">
        <p14:creationId xmlns:p14="http://schemas.microsoft.com/office/powerpoint/2010/main" val="3223881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109595" y="2283295"/>
            <a:ext cx="5264564" cy="46477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1"/>
          <p:cNvSpPr txBox="1">
            <a:spLocks/>
          </p:cNvSpPr>
          <p:nvPr/>
        </p:nvSpPr>
        <p:spPr>
          <a:xfrm>
            <a:off x="1357270" y="499900"/>
            <a:ext cx="6157435" cy="7916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pPr algn="r"/>
            <a:r>
              <a:rPr lang="en-GB" sz="2000" dirty="0">
                <a:solidFill>
                  <a:schemeClr val="tx1"/>
                </a:solidFill>
              </a:rPr>
              <a:t>An all-in-one Business Area - Value Stream – </a:t>
            </a:r>
          </a:p>
          <a:p>
            <a:pPr algn="r"/>
            <a:r>
              <a:rPr lang="en-GB" sz="2000" dirty="0">
                <a:solidFill>
                  <a:schemeClr val="tx1"/>
                </a:solidFill>
              </a:rPr>
              <a:t>Work </a:t>
            </a:r>
            <a:r>
              <a:rPr lang="en-GB" sz="2000" dirty="0" err="1">
                <a:solidFill>
                  <a:schemeClr val="tx1"/>
                </a:solidFill>
              </a:rPr>
              <a:t>Center</a:t>
            </a:r>
            <a:r>
              <a:rPr lang="en-GB" sz="2000" dirty="0">
                <a:solidFill>
                  <a:schemeClr val="tx1"/>
                </a:solidFill>
              </a:rPr>
              <a:t> Productivity Tracker</a:t>
            </a:r>
            <a:endParaRPr lang="en-GB" sz="2400" dirty="0">
              <a:solidFill>
                <a:schemeClr val="tx1"/>
              </a:solidFill>
            </a:endParaRPr>
          </a:p>
        </p:txBody>
      </p:sp>
      <p:sp>
        <p:nvSpPr>
          <p:cNvPr id="15" name="Title 1"/>
          <p:cNvSpPr txBox="1">
            <a:spLocks/>
          </p:cNvSpPr>
          <p:nvPr/>
        </p:nvSpPr>
        <p:spPr>
          <a:xfrm>
            <a:off x="559127" y="1070370"/>
            <a:ext cx="6955578" cy="323357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pPr algn="r"/>
            <a:r>
              <a:rPr lang="en-GB" sz="1400" b="0" dirty="0">
                <a:solidFill>
                  <a:schemeClr val="tx1"/>
                </a:solidFill>
              </a:rPr>
              <a:t>Based on Microsoft Fabric the tracker can be viewed on a web browser or Microsoft </a:t>
            </a:r>
            <a:r>
              <a:rPr lang="en-GB" sz="1400" b="0" dirty="0" err="1">
                <a:solidFill>
                  <a:schemeClr val="tx1"/>
                </a:solidFill>
              </a:rPr>
              <a:t>PowerBi</a:t>
            </a:r>
            <a:r>
              <a:rPr lang="en-GB" sz="1400" b="0" dirty="0">
                <a:solidFill>
                  <a:schemeClr val="tx1"/>
                </a:solidFill>
              </a:rPr>
              <a:t> mobile app. </a:t>
            </a:r>
          </a:p>
          <a:p>
            <a:pPr algn="r"/>
            <a:endParaRPr lang="en-GB" sz="1400" b="0" dirty="0">
              <a:solidFill>
                <a:schemeClr val="tx1"/>
              </a:solidFill>
            </a:endParaRPr>
          </a:p>
          <a:p>
            <a:pPr algn="r"/>
            <a:r>
              <a:rPr lang="en-GB" sz="1400" b="0" dirty="0">
                <a:solidFill>
                  <a:schemeClr val="tx1"/>
                </a:solidFill>
              </a:rPr>
              <a:t>Fabric is currently in a trial period with GKN. Everyone with a Microsoft account currently will have access. You can log in now on </a:t>
            </a:r>
            <a:r>
              <a:rPr lang="en-GB" sz="1400" b="0" dirty="0">
                <a:solidFill>
                  <a:schemeClr val="tx1"/>
                </a:solidFill>
                <a:hlinkClick r:id="rId2"/>
              </a:rPr>
              <a:t>www.microsoft.com/en-us/microsoft-fabric/getting-started</a:t>
            </a:r>
            <a:r>
              <a:rPr lang="en-GB" sz="1400" b="0" dirty="0">
                <a:solidFill>
                  <a:schemeClr val="tx1"/>
                </a:solidFill>
              </a:rPr>
              <a:t> - select ‘Try for free’ and enter your Microsoft log in details. </a:t>
            </a:r>
          </a:p>
          <a:p>
            <a:pPr algn="r"/>
            <a:endParaRPr lang="en-GB" sz="1400" b="0" i="1" dirty="0">
              <a:solidFill>
                <a:schemeClr val="tx1"/>
              </a:solidFill>
            </a:endParaRPr>
          </a:p>
          <a:p>
            <a:pPr algn="r"/>
            <a:r>
              <a:rPr lang="en-GB" sz="1400" b="0" i="1" dirty="0">
                <a:solidFill>
                  <a:schemeClr val="tx1"/>
                </a:solidFill>
              </a:rPr>
              <a:t>You will need an invite to the OpEx. AeroBi dashboard to view the tracker.</a:t>
            </a:r>
          </a:p>
          <a:p>
            <a:pPr algn="r"/>
            <a:endParaRPr lang="en-GB" sz="1400" b="0" i="1" dirty="0">
              <a:solidFill>
                <a:schemeClr val="tx1"/>
              </a:solidFill>
            </a:endParaRPr>
          </a:p>
          <a:p>
            <a:pPr algn="r"/>
            <a:r>
              <a:rPr lang="en-GB" sz="1400" b="0" dirty="0">
                <a:solidFill>
                  <a:schemeClr val="tx1"/>
                </a:solidFill>
              </a:rPr>
              <a:t>The </a:t>
            </a:r>
            <a:r>
              <a:rPr lang="en-GB" sz="1400" b="0" dirty="0" err="1">
                <a:solidFill>
                  <a:schemeClr val="tx1"/>
                </a:solidFill>
              </a:rPr>
              <a:t>PowerBi</a:t>
            </a:r>
            <a:r>
              <a:rPr lang="en-GB" sz="1400" b="0" dirty="0">
                <a:solidFill>
                  <a:schemeClr val="tx1"/>
                </a:solidFill>
              </a:rPr>
              <a:t> app can be found in the app store on your mobile. Once logged in it will connect to your Fabric ‘My workspace’. Once invited to the AeroBi dashboard you can access the tracker.</a:t>
            </a:r>
          </a:p>
          <a:p>
            <a:pPr algn="r"/>
            <a:endParaRPr lang="en-GB" sz="1400" b="0" dirty="0">
              <a:solidFill>
                <a:schemeClr val="tx1"/>
              </a:solidFill>
            </a:endParaRPr>
          </a:p>
          <a:p>
            <a:pPr algn="r"/>
            <a:endParaRPr lang="en-GB" sz="1400" b="0" dirty="0">
              <a:solidFill>
                <a:schemeClr val="tx1"/>
              </a:solidFill>
            </a:endParaRPr>
          </a:p>
        </p:txBody>
      </p:sp>
      <p:sp>
        <p:nvSpPr>
          <p:cNvPr id="16" name="Rectangle 15"/>
          <p:cNvSpPr/>
          <p:nvPr/>
        </p:nvSpPr>
        <p:spPr>
          <a:xfrm>
            <a:off x="7788102" y="2359953"/>
            <a:ext cx="4403897" cy="4494431"/>
          </a:xfrm>
          <a:prstGeom prst="rect">
            <a:avLst/>
          </a:prstGeom>
          <a:solidFill>
            <a:srgbClr val="F2F2F2">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p:cNvGrpSpPr/>
          <p:nvPr/>
        </p:nvGrpSpPr>
        <p:grpSpPr>
          <a:xfrm>
            <a:off x="1706876" y="5110232"/>
            <a:ext cx="4010246" cy="934214"/>
            <a:chOff x="2463491" y="5302853"/>
            <a:chExt cx="4010246" cy="934214"/>
          </a:xfrm>
        </p:grpSpPr>
        <p:sp>
          <p:nvSpPr>
            <p:cNvPr id="7" name="Text Placeholder 6"/>
            <p:cNvSpPr txBox="1">
              <a:spLocks/>
            </p:cNvSpPr>
            <p:nvPr/>
          </p:nvSpPr>
          <p:spPr>
            <a:xfrm>
              <a:off x="2463491" y="5475377"/>
              <a:ext cx="3612670" cy="76169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sz="36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800" dirty="0">
                  <a:solidFill>
                    <a:schemeClr val="tx1"/>
                  </a:solidFill>
                  <a:latin typeface="Segoe UI" panose="020B0502040204020203" pitchFamily="34" charset="0"/>
                  <a:cs typeface="Segoe UI" panose="020B0502040204020203" pitchFamily="34" charset="0"/>
                </a:rPr>
                <a:t>|</a:t>
              </a:r>
              <a:r>
                <a:rPr lang="en-US" sz="4000" dirty="0">
                  <a:solidFill>
                    <a:schemeClr val="tx1"/>
                  </a:solidFill>
                  <a:latin typeface="Segoe UI" panose="020B0502040204020203" pitchFamily="34" charset="0"/>
                  <a:cs typeface="Segoe UI" panose="020B0502040204020203" pitchFamily="34" charset="0"/>
                </a:rPr>
                <a:t> Aero</a:t>
              </a:r>
              <a:r>
                <a:rPr lang="en-US" sz="4000" b="1" dirty="0">
                  <a:solidFill>
                    <a:srgbClr val="FFCC33"/>
                  </a:solidFill>
                  <a:latin typeface="Century Gothic" panose="020B0502020202020204" pitchFamily="34" charset="0"/>
                </a:rPr>
                <a:t>Bi</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6312" y="5302853"/>
              <a:ext cx="597425" cy="597425"/>
            </a:xfrm>
            <a:prstGeom prst="rect">
              <a:avLst/>
            </a:prstGeom>
          </p:spPr>
        </p:pic>
      </p:grpSp>
      <p:sp>
        <p:nvSpPr>
          <p:cNvPr id="17" name="Title 1"/>
          <p:cNvSpPr txBox="1">
            <a:spLocks/>
          </p:cNvSpPr>
          <p:nvPr/>
        </p:nvSpPr>
        <p:spPr>
          <a:xfrm>
            <a:off x="559126" y="4023612"/>
            <a:ext cx="5940780" cy="7473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pPr algn="r"/>
            <a:r>
              <a:rPr lang="en-GB" sz="1400" b="0" dirty="0">
                <a:solidFill>
                  <a:schemeClr val="tx1"/>
                </a:solidFill>
              </a:rPr>
              <a:t>The tracker breaks down from Business Area to individual Work </a:t>
            </a:r>
            <a:r>
              <a:rPr lang="en-GB" sz="1400" b="0" dirty="0" err="1">
                <a:solidFill>
                  <a:schemeClr val="tx1"/>
                </a:solidFill>
              </a:rPr>
              <a:t>Centers</a:t>
            </a:r>
            <a:r>
              <a:rPr lang="en-GB" sz="1400" b="0" dirty="0">
                <a:solidFill>
                  <a:schemeClr val="tx1"/>
                </a:solidFill>
              </a:rPr>
              <a:t> - dividing Earned Hours by Attended Hours, taken from SAP, to give a productivity percentage.</a:t>
            </a: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5586153" y="2381401"/>
            <a:ext cx="8807796" cy="4403898"/>
          </a:xfrm>
          <a:prstGeom prst="rect">
            <a:avLst/>
          </a:prstGeom>
        </p:spPr>
      </p:pic>
      <p:pic>
        <p:nvPicPr>
          <p:cNvPr id="2052" name="Picture 4" descr="Microsoft Fabric vs Power BI: เปรียบเทียบความแตกต่างและการใช้งาน"/>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88103" y="0"/>
            <a:ext cx="4403897" cy="247719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1000" y="3468944"/>
            <a:ext cx="6027121" cy="2882271"/>
          </a:xfrm>
          <a:prstGeom prst="rect">
            <a:avLst/>
          </a:prstGeom>
        </p:spPr>
      </p:pic>
      <p:grpSp>
        <p:nvGrpSpPr>
          <p:cNvPr id="2" name="Group 1"/>
          <p:cNvGrpSpPr/>
          <p:nvPr/>
        </p:nvGrpSpPr>
        <p:grpSpPr>
          <a:xfrm>
            <a:off x="1392253" y="5332016"/>
            <a:ext cx="1857810" cy="690208"/>
            <a:chOff x="1399382" y="5385298"/>
            <a:chExt cx="1857810" cy="690208"/>
          </a:xfrm>
        </p:grpSpPr>
        <p:pic>
          <p:nvPicPr>
            <p:cNvPr id="5" name="Picture 4"/>
            <p:cNvPicPr>
              <a:picLocks noChangeAspect="1"/>
            </p:cNvPicPr>
            <p:nvPr/>
          </p:nvPicPr>
          <p:blipFill rotWithShape="1">
            <a:blip r:embed="rId7" cstate="print">
              <a:extLst>
                <a:ext uri="{28A0092B-C50C-407E-A947-70E740481C1C}">
                  <a14:useLocalDpi xmlns:a14="http://schemas.microsoft.com/office/drawing/2010/main" val="0"/>
                </a:ext>
              </a:extLst>
            </a:blip>
            <a:srcRect l="-1" r="45219" b="7500"/>
            <a:stretch/>
          </p:blipFill>
          <p:spPr>
            <a:xfrm>
              <a:off x="1399382" y="5385298"/>
              <a:ext cx="1857810" cy="537307"/>
            </a:xfrm>
            <a:prstGeom prst="rect">
              <a:avLst/>
            </a:prstGeom>
          </p:spPr>
        </p:pic>
        <p:pic>
          <p:nvPicPr>
            <p:cNvPr id="18" name="Picture 17"/>
            <p:cNvPicPr>
              <a:picLocks noChangeAspect="1"/>
            </p:cNvPicPr>
            <p:nvPr/>
          </p:nvPicPr>
          <p:blipFill rotWithShape="1">
            <a:blip r:embed="rId8" cstate="print">
              <a:extLst>
                <a:ext uri="{28A0092B-C50C-407E-A947-70E740481C1C}">
                  <a14:useLocalDpi xmlns:a14="http://schemas.microsoft.com/office/drawing/2010/main" val="0"/>
                </a:ext>
              </a:extLst>
            </a:blip>
            <a:srcRect l="54755" t="27774" r="1848" b="30310"/>
            <a:stretch/>
          </p:blipFill>
          <p:spPr>
            <a:xfrm>
              <a:off x="1626816" y="5832027"/>
              <a:ext cx="1471697" cy="243479"/>
            </a:xfrm>
            <a:prstGeom prst="rect">
              <a:avLst/>
            </a:prstGeom>
          </p:spPr>
        </p:pic>
      </p:grpSp>
    </p:spTree>
    <p:extLst>
      <p:ext uri="{BB962C8B-B14F-4D97-AF65-F5344CB8AC3E}">
        <p14:creationId xmlns:p14="http://schemas.microsoft.com/office/powerpoint/2010/main" val="198304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2872114" y="114385"/>
            <a:ext cx="3742769"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pPr algn="r"/>
            <a:r>
              <a:rPr lang="en-GB" sz="2000" dirty="0">
                <a:solidFill>
                  <a:schemeClr val="tx1"/>
                </a:solidFill>
              </a:rPr>
              <a:t>Fabric Web Browser</a:t>
            </a:r>
          </a:p>
        </p:txBody>
      </p:sp>
      <p:sp>
        <p:nvSpPr>
          <p:cNvPr id="7" name="Title 1"/>
          <p:cNvSpPr txBox="1">
            <a:spLocks/>
          </p:cNvSpPr>
          <p:nvPr/>
        </p:nvSpPr>
        <p:spPr>
          <a:xfrm>
            <a:off x="699069" y="902261"/>
            <a:ext cx="5908542" cy="24949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pPr algn="r"/>
            <a:endParaRPr lang="en-GB" sz="1400" b="0" dirty="0">
              <a:solidFill>
                <a:schemeClr val="tx1"/>
              </a:solidFill>
            </a:endParaRPr>
          </a:p>
          <a:p>
            <a:pPr algn="r"/>
            <a:endParaRPr lang="en-GB" sz="1400" b="0" dirty="0">
              <a:solidFill>
                <a:schemeClr val="tx1"/>
              </a:solidFill>
            </a:endParaRPr>
          </a:p>
          <a:p>
            <a:pPr algn="r"/>
            <a:r>
              <a:rPr lang="en-GB" sz="1400" b="0" dirty="0">
                <a:solidFill>
                  <a:schemeClr val="tx1"/>
                </a:solidFill>
              </a:rPr>
              <a:t>Once you have the OpEx. Reporting invitation you can view the dashboard in your ‘My workspace’.</a:t>
            </a:r>
          </a:p>
          <a:p>
            <a:pPr algn="r"/>
            <a:endParaRPr lang="en-GB" sz="1400" b="0" dirty="0">
              <a:solidFill>
                <a:schemeClr val="tx1"/>
              </a:solidFill>
            </a:endParaRPr>
          </a:p>
          <a:p>
            <a:pPr algn="r"/>
            <a:r>
              <a:rPr lang="en-GB" sz="1400" b="0" dirty="0">
                <a:solidFill>
                  <a:schemeClr val="tx1"/>
                </a:solidFill>
              </a:rPr>
              <a:t>You can either use the tracker on the dashboard, or by clicking the three dots at the top right of the report you can enlarge by choosing the ‘Go to report’ option.</a:t>
            </a:r>
          </a:p>
          <a:p>
            <a:pPr algn="r"/>
            <a:endParaRPr lang="en-GB" sz="1400" b="0" dirty="0">
              <a:solidFill>
                <a:schemeClr val="tx1"/>
              </a:solidFill>
            </a:endParaRPr>
          </a:p>
          <a:p>
            <a:pPr algn="r"/>
            <a:endParaRPr lang="en-GB" sz="1400" b="0" dirty="0">
              <a:solidFill>
                <a:schemeClr val="tx1"/>
              </a:solidFill>
            </a:endParaRPr>
          </a:p>
          <a:p>
            <a:pPr algn="r"/>
            <a:r>
              <a:rPr lang="en-GB" sz="1400" b="0" dirty="0">
                <a:solidFill>
                  <a:schemeClr val="tx1"/>
                </a:solidFill>
              </a:rPr>
              <a:t>The productivity tracker will be refreshed with the latest Earned Hours/Attended Hours data to the OpEx. Reporting dashboard before 9am each morning (we’re working on getting this time earlier). </a:t>
            </a:r>
          </a:p>
          <a:p>
            <a:pPr algn="r"/>
            <a:endParaRPr lang="en-GB" sz="1400" b="0" dirty="0">
              <a:solidFill>
                <a:schemeClr val="tx1"/>
              </a:solidFill>
            </a:endParaRPr>
          </a:p>
        </p:txBody>
      </p:sp>
      <p:sp>
        <p:nvSpPr>
          <p:cNvPr id="8" name="Title 1"/>
          <p:cNvSpPr txBox="1">
            <a:spLocks/>
          </p:cNvSpPr>
          <p:nvPr/>
        </p:nvSpPr>
        <p:spPr>
          <a:xfrm>
            <a:off x="2446237" y="3417255"/>
            <a:ext cx="1777420"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err="1">
                <a:solidFill>
                  <a:schemeClr val="tx1"/>
                </a:solidFill>
              </a:rPr>
              <a:t>PowerBi</a:t>
            </a:r>
            <a:r>
              <a:rPr lang="en-GB" sz="2000" dirty="0">
                <a:solidFill>
                  <a:schemeClr val="tx1"/>
                </a:solidFill>
              </a:rPr>
              <a:t> App</a:t>
            </a:r>
          </a:p>
        </p:txBody>
      </p:sp>
      <p:sp>
        <p:nvSpPr>
          <p:cNvPr id="9" name="Title 1"/>
          <p:cNvSpPr txBox="1">
            <a:spLocks/>
          </p:cNvSpPr>
          <p:nvPr/>
        </p:nvSpPr>
        <p:spPr>
          <a:xfrm>
            <a:off x="2350892" y="4139744"/>
            <a:ext cx="4073301" cy="128348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1400" b="0" dirty="0">
                <a:solidFill>
                  <a:schemeClr val="tx1"/>
                </a:solidFill>
              </a:rPr>
              <a:t>The app will take you to your ‘My workspace’. By selecting the OpEx. dashboard you can view the tracker. </a:t>
            </a:r>
          </a:p>
          <a:p>
            <a:endParaRPr lang="en-GB" sz="1400" b="0" dirty="0">
              <a:solidFill>
                <a:schemeClr val="tx1"/>
              </a:solidFill>
            </a:endParaRPr>
          </a:p>
          <a:p>
            <a:r>
              <a:rPr lang="en-GB" sz="1400" b="0" dirty="0">
                <a:solidFill>
                  <a:schemeClr val="tx1"/>
                </a:solidFill>
              </a:rPr>
              <a:t>Clicking on the report will open it into a mobile view.</a:t>
            </a:r>
          </a:p>
        </p:txBody>
      </p:sp>
      <p:pic>
        <p:nvPicPr>
          <p:cNvPr id="11" name="Picture 10"/>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0" r="100000">
                        <a14:foregroundMark x1="4688" y1="83203" x2="12109" y2="53906"/>
                        <a14:foregroundMark x1="67578" y1="39453" x2="96484" y2="2344"/>
                        <a14:foregroundMark x1="90625" y1="30469" x2="92578" y2="13672"/>
                      </a14:backgroundRemoval>
                    </a14:imgEffect>
                  </a14:imgLayer>
                </a14:imgProps>
              </a:ext>
              <a:ext uri="{28A0092B-C50C-407E-A947-70E740481C1C}">
                <a14:useLocalDpi xmlns:a14="http://schemas.microsoft.com/office/drawing/2010/main" val="0"/>
              </a:ext>
            </a:extLst>
          </a:blip>
          <a:stretch>
            <a:fillRect/>
          </a:stretch>
        </p:blipFill>
        <p:spPr>
          <a:xfrm>
            <a:off x="3341018" y="212229"/>
            <a:ext cx="624645" cy="624645"/>
          </a:xfrm>
          <a:prstGeom prst="rect">
            <a:avLst/>
          </a:prstGeom>
        </p:spPr>
      </p:pic>
      <p:pic>
        <p:nvPicPr>
          <p:cNvPr id="5128" name="Picture 8" descr="Power BI Blog—Updates and News | Microsoft Power BI"/>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0" b="100000" l="26750" r="90000"/>
                    </a14:imgEffect>
                  </a14:imgLayer>
                </a14:imgProps>
              </a:ext>
              <a:ext uri="{28A0092B-C50C-407E-A947-70E740481C1C}">
                <a14:useLocalDpi xmlns:a14="http://schemas.microsoft.com/office/drawing/2010/main" val="0"/>
              </a:ext>
            </a:extLst>
          </a:blip>
          <a:srcRect/>
          <a:stretch>
            <a:fillRect/>
          </a:stretch>
        </p:blipFill>
        <p:spPr bwMode="auto">
          <a:xfrm>
            <a:off x="3875285" y="3500800"/>
            <a:ext cx="1152799" cy="6052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a:stretch>
            <a:fillRect/>
          </a:stretch>
        </p:blipFill>
        <p:spPr>
          <a:xfrm>
            <a:off x="6693318" y="212229"/>
            <a:ext cx="5088392" cy="4673871"/>
          </a:xfrm>
          <a:prstGeom prst="rect">
            <a:avLst/>
          </a:prstGeom>
        </p:spPr>
      </p:pic>
      <p:sp>
        <p:nvSpPr>
          <p:cNvPr id="12" name="Title 1"/>
          <p:cNvSpPr txBox="1">
            <a:spLocks/>
          </p:cNvSpPr>
          <p:nvPr/>
        </p:nvSpPr>
        <p:spPr>
          <a:xfrm>
            <a:off x="5923710" y="5506776"/>
            <a:ext cx="1000965"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a:solidFill>
                  <a:schemeClr val="tx1"/>
                </a:solidFill>
              </a:rPr>
              <a:t>Teams</a:t>
            </a:r>
          </a:p>
        </p:txBody>
      </p:sp>
      <p:pic>
        <p:nvPicPr>
          <p:cNvPr id="1026" name="Picture 2" descr="Microsoft Teams - Wikipedi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73865" y="5624045"/>
            <a:ext cx="649845" cy="60522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p:cNvSpPr txBox="1">
            <a:spLocks/>
          </p:cNvSpPr>
          <p:nvPr/>
        </p:nvSpPr>
        <p:spPr>
          <a:xfrm>
            <a:off x="6924675" y="5506776"/>
            <a:ext cx="4738778" cy="92000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1400" b="0" dirty="0" err="1">
                <a:solidFill>
                  <a:schemeClr val="tx1"/>
                </a:solidFill>
              </a:rPr>
              <a:t>PowerBi</a:t>
            </a:r>
            <a:r>
              <a:rPr lang="en-GB" sz="1400" b="0" dirty="0">
                <a:solidFill>
                  <a:schemeClr val="tx1"/>
                </a:solidFill>
              </a:rPr>
              <a:t> can be added as an app into Teams. </a:t>
            </a:r>
          </a:p>
          <a:p>
            <a:endParaRPr lang="en-GB" sz="1400" b="0" dirty="0">
              <a:solidFill>
                <a:schemeClr val="tx1"/>
              </a:solidFill>
            </a:endParaRPr>
          </a:p>
          <a:p>
            <a:r>
              <a:rPr lang="en-GB" sz="1400" b="0" dirty="0">
                <a:solidFill>
                  <a:schemeClr val="tx1"/>
                </a:solidFill>
              </a:rPr>
              <a:t>All dashboards and reports, with permission to, will be available to view, share or add to a chat.</a:t>
            </a:r>
          </a:p>
        </p:txBody>
      </p:sp>
      <p:pic>
        <p:nvPicPr>
          <p:cNvPr id="15" name="Picture 14"/>
          <p:cNvPicPr>
            <a:picLocks noChangeAspect="1"/>
          </p:cNvPicPr>
          <p:nvPr/>
        </p:nvPicPr>
        <p:blipFill rotWithShape="1">
          <a:blip r:embed="rId8" cstate="print">
            <a:extLst>
              <a:ext uri="{28A0092B-C50C-407E-A947-70E740481C1C}">
                <a14:useLocalDpi xmlns:a14="http://schemas.microsoft.com/office/drawing/2010/main" val="0"/>
              </a:ext>
            </a:extLst>
          </a:blip>
          <a:srcRect b="1658"/>
          <a:stretch/>
        </p:blipFill>
        <p:spPr>
          <a:xfrm>
            <a:off x="404101" y="3397163"/>
            <a:ext cx="1891652" cy="3308836"/>
          </a:xfrm>
          <a:prstGeom prst="rect">
            <a:avLst/>
          </a:prstGeom>
        </p:spPr>
      </p:pic>
    </p:spTree>
    <p:extLst>
      <p:ext uri="{BB962C8B-B14F-4D97-AF65-F5344CB8AC3E}">
        <p14:creationId xmlns:p14="http://schemas.microsoft.com/office/powerpoint/2010/main" val="20688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2058853" y="29730"/>
            <a:ext cx="4627894"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a:solidFill>
                  <a:schemeClr val="tx1"/>
                </a:solidFill>
              </a:rPr>
              <a:t>Productivity Summary Report</a:t>
            </a:r>
          </a:p>
        </p:txBody>
      </p:sp>
      <p:pic>
        <p:nvPicPr>
          <p:cNvPr id="3" name="Picture 2"/>
          <p:cNvPicPr>
            <a:picLocks noChangeAspect="1"/>
          </p:cNvPicPr>
          <p:nvPr/>
        </p:nvPicPr>
        <p:blipFill rotWithShape="1">
          <a:blip r:embed="rId2"/>
          <a:srcRect l="1141"/>
          <a:stretch/>
        </p:blipFill>
        <p:spPr>
          <a:xfrm>
            <a:off x="4208442" y="959003"/>
            <a:ext cx="7636855" cy="4341543"/>
          </a:xfrm>
          <a:prstGeom prst="rect">
            <a:avLst/>
          </a:prstGeom>
        </p:spPr>
      </p:pic>
      <p:sp>
        <p:nvSpPr>
          <p:cNvPr id="17" name="Rounded Rectangle 16"/>
          <p:cNvSpPr/>
          <p:nvPr/>
        </p:nvSpPr>
        <p:spPr>
          <a:xfrm>
            <a:off x="906965" y="959003"/>
            <a:ext cx="3226419" cy="2059260"/>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The Summary page is a quick over view of each business area and Filton as a site. </a:t>
            </a:r>
          </a:p>
          <a:p>
            <a:pPr algn="r"/>
            <a:endParaRPr lang="en-GB" sz="1200" dirty="0">
              <a:solidFill>
                <a:schemeClr val="tx1"/>
              </a:solidFill>
            </a:endParaRPr>
          </a:p>
          <a:p>
            <a:pPr algn="r"/>
            <a:r>
              <a:rPr lang="en-GB" sz="1200" dirty="0">
                <a:solidFill>
                  <a:schemeClr val="tx1"/>
                </a:solidFill>
              </a:rPr>
              <a:t>All data is a cumulative for the date selected – Productivity, Earned Hours and Attended Hours.</a:t>
            </a:r>
          </a:p>
          <a:p>
            <a:pPr algn="r"/>
            <a:endParaRPr lang="en-GB" sz="1200" dirty="0">
              <a:solidFill>
                <a:schemeClr val="tx1"/>
              </a:solidFill>
            </a:endParaRPr>
          </a:p>
          <a:p>
            <a:pPr algn="r"/>
            <a:r>
              <a:rPr lang="en-GB" sz="1200" dirty="0">
                <a:solidFill>
                  <a:schemeClr val="tx1"/>
                </a:solidFill>
              </a:rPr>
              <a:t>The bar chart shows the site productivity for the year by month.</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965" y="3308592"/>
            <a:ext cx="1858664" cy="3305946"/>
          </a:xfrm>
          <a:prstGeom prst="rect">
            <a:avLst/>
          </a:prstGeom>
        </p:spPr>
      </p:pic>
      <p:sp>
        <p:nvSpPr>
          <p:cNvPr id="18" name="Rounded Rectangle 17"/>
          <p:cNvSpPr/>
          <p:nvPr/>
        </p:nvSpPr>
        <p:spPr>
          <a:xfrm>
            <a:off x="2877896" y="5590875"/>
            <a:ext cx="2349193" cy="1129194"/>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mobile view has the same data visuals.</a:t>
            </a:r>
          </a:p>
          <a:p>
            <a:endParaRPr lang="en-GB" sz="1200" dirty="0">
              <a:solidFill>
                <a:schemeClr val="tx1"/>
              </a:solidFill>
            </a:endParaRPr>
          </a:p>
          <a:p>
            <a:r>
              <a:rPr lang="en-GB" sz="1200" dirty="0">
                <a:solidFill>
                  <a:schemeClr val="tx1"/>
                </a:solidFill>
              </a:rPr>
              <a:t>Scrolling down will display the monthly bar chart.</a:t>
            </a:r>
          </a:p>
        </p:txBody>
      </p:sp>
      <p:sp>
        <p:nvSpPr>
          <p:cNvPr id="6" name="TextBox 5"/>
          <p:cNvSpPr txBox="1"/>
          <p:nvPr/>
        </p:nvSpPr>
        <p:spPr>
          <a:xfrm>
            <a:off x="10447155" y="712782"/>
            <a:ext cx="1473200" cy="246221"/>
          </a:xfrm>
          <a:prstGeom prst="rect">
            <a:avLst/>
          </a:prstGeom>
          <a:noFill/>
        </p:spPr>
        <p:txBody>
          <a:bodyPr wrap="square" rtlCol="0">
            <a:spAutoFit/>
          </a:bodyPr>
          <a:lstStyle/>
          <a:p>
            <a:r>
              <a:rPr lang="en-GB" sz="1000" dirty="0"/>
              <a:t>Fabric on web browser</a:t>
            </a:r>
          </a:p>
        </p:txBody>
      </p:sp>
      <p:sp>
        <p:nvSpPr>
          <p:cNvPr id="20" name="TextBox 19"/>
          <p:cNvSpPr txBox="1"/>
          <p:nvPr/>
        </p:nvSpPr>
        <p:spPr>
          <a:xfrm>
            <a:off x="504810" y="6542473"/>
            <a:ext cx="2082800" cy="246221"/>
          </a:xfrm>
          <a:prstGeom prst="rect">
            <a:avLst/>
          </a:prstGeom>
          <a:noFill/>
        </p:spPr>
        <p:txBody>
          <a:bodyPr wrap="square" rtlCol="0">
            <a:spAutoFit/>
          </a:bodyPr>
          <a:lstStyle/>
          <a:p>
            <a:r>
              <a:rPr lang="en-GB" sz="1000" dirty="0" err="1"/>
              <a:t>PowerBi</a:t>
            </a:r>
            <a:r>
              <a:rPr lang="en-GB" sz="1000" dirty="0"/>
              <a:t> on mobile app</a:t>
            </a:r>
          </a:p>
        </p:txBody>
      </p:sp>
    </p:spTree>
    <p:extLst>
      <p:ext uri="{BB962C8B-B14F-4D97-AF65-F5344CB8AC3E}">
        <p14:creationId xmlns:p14="http://schemas.microsoft.com/office/powerpoint/2010/main" val="221655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9455556" y="3195803"/>
            <a:ext cx="2511380" cy="1953948"/>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months graph will show Cumulative data and Target data for Business Area selected only. </a:t>
            </a:r>
          </a:p>
          <a:p>
            <a:endParaRPr lang="en-GB" sz="1200" dirty="0">
              <a:solidFill>
                <a:schemeClr val="tx1"/>
              </a:solidFill>
            </a:endParaRPr>
          </a:p>
          <a:p>
            <a:r>
              <a:rPr lang="en-GB" sz="1200" dirty="0">
                <a:solidFill>
                  <a:schemeClr val="tx1"/>
                </a:solidFill>
              </a:rPr>
              <a:t>When a Value Stream or Cost </a:t>
            </a:r>
            <a:r>
              <a:rPr lang="en-GB" sz="1200" dirty="0" err="1">
                <a:solidFill>
                  <a:schemeClr val="tx1"/>
                </a:solidFill>
              </a:rPr>
              <a:t>Center</a:t>
            </a:r>
            <a:r>
              <a:rPr lang="en-GB" sz="1200" dirty="0">
                <a:solidFill>
                  <a:schemeClr val="tx1"/>
                </a:solidFill>
              </a:rPr>
              <a:t> are selected the bar will show how that selection contributed to that Business Areas data.</a:t>
            </a:r>
          </a:p>
        </p:txBody>
      </p:sp>
      <p:sp>
        <p:nvSpPr>
          <p:cNvPr id="27" name="Rounded Rectangle 26"/>
          <p:cNvSpPr/>
          <p:nvPr/>
        </p:nvSpPr>
        <p:spPr>
          <a:xfrm>
            <a:off x="9827636" y="271127"/>
            <a:ext cx="1986075" cy="1559627"/>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Green/Red visual shows what areas are above or below their target.</a:t>
            </a:r>
          </a:p>
          <a:p>
            <a:endParaRPr lang="en-GB" sz="1200" dirty="0">
              <a:solidFill>
                <a:schemeClr val="tx1"/>
              </a:solidFill>
            </a:endParaRPr>
          </a:p>
          <a:p>
            <a:r>
              <a:rPr lang="en-GB" sz="1200" dirty="0">
                <a:solidFill>
                  <a:schemeClr val="tx1"/>
                </a:solidFill>
              </a:rPr>
              <a:t>The farther an area is from its target, the larger the box appears.</a:t>
            </a:r>
          </a:p>
        </p:txBody>
      </p:sp>
      <p:sp>
        <p:nvSpPr>
          <p:cNvPr id="22" name="Rounded Rectangle 21"/>
          <p:cNvSpPr/>
          <p:nvPr/>
        </p:nvSpPr>
        <p:spPr>
          <a:xfrm>
            <a:off x="6768798" y="5308883"/>
            <a:ext cx="5044913" cy="1070145"/>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data cards show the area that the data is showing for, for example: Cumulative - Green is plus, Red is minus - Target, delta cumulative from target, and the previous day, if ‘NA’ is shown the report hasn’t been updated or the month selection isn’t for the current month.</a:t>
            </a:r>
          </a:p>
        </p:txBody>
      </p:sp>
      <p:sp>
        <p:nvSpPr>
          <p:cNvPr id="20" name="Rounded Rectangle 19"/>
          <p:cNvSpPr/>
          <p:nvPr/>
        </p:nvSpPr>
        <p:spPr>
          <a:xfrm>
            <a:off x="9476536" y="2101958"/>
            <a:ext cx="2469419" cy="934712"/>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Selecting a Business Area, Value Stream or individual Cost </a:t>
            </a:r>
            <a:r>
              <a:rPr lang="en-GB" sz="1200" dirty="0" err="1">
                <a:solidFill>
                  <a:schemeClr val="tx1"/>
                </a:solidFill>
              </a:rPr>
              <a:t>Center</a:t>
            </a:r>
            <a:r>
              <a:rPr lang="en-GB" sz="1200" dirty="0">
                <a:solidFill>
                  <a:schemeClr val="tx1"/>
                </a:solidFill>
              </a:rPr>
              <a:t> will update the charts and data to the selected area.</a:t>
            </a:r>
          </a:p>
        </p:txBody>
      </p:sp>
      <p:sp>
        <p:nvSpPr>
          <p:cNvPr id="13" name="Title 1"/>
          <p:cNvSpPr txBox="1">
            <a:spLocks/>
          </p:cNvSpPr>
          <p:nvPr/>
        </p:nvSpPr>
        <p:spPr>
          <a:xfrm>
            <a:off x="2058852" y="29730"/>
            <a:ext cx="5438841"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a:solidFill>
                  <a:schemeClr val="tx1"/>
                </a:solidFill>
              </a:rPr>
              <a:t>Fabric Web Browser - Productivity Report</a:t>
            </a:r>
          </a:p>
        </p:txBody>
      </p:sp>
      <p:sp>
        <p:nvSpPr>
          <p:cNvPr id="11" name="Title 1"/>
          <p:cNvSpPr txBox="1">
            <a:spLocks/>
          </p:cNvSpPr>
          <p:nvPr/>
        </p:nvSpPr>
        <p:spPr>
          <a:xfrm>
            <a:off x="4372800" y="737924"/>
            <a:ext cx="3124894" cy="83049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1200" b="0" dirty="0">
                <a:solidFill>
                  <a:schemeClr val="tx1"/>
                </a:solidFill>
              </a:rPr>
              <a:t> </a:t>
            </a:r>
          </a:p>
        </p:txBody>
      </p:sp>
      <p:sp>
        <p:nvSpPr>
          <p:cNvPr id="2" name="Rounded Rectangle 1"/>
          <p:cNvSpPr/>
          <p:nvPr/>
        </p:nvSpPr>
        <p:spPr>
          <a:xfrm>
            <a:off x="1468243" y="783528"/>
            <a:ext cx="2128655" cy="534827"/>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Use the dropdown filters for Dates and Business Area. </a:t>
            </a:r>
          </a:p>
        </p:txBody>
      </p:sp>
      <p:sp>
        <p:nvSpPr>
          <p:cNvPr id="19" name="Rounded Rectangle 18"/>
          <p:cNvSpPr/>
          <p:nvPr/>
        </p:nvSpPr>
        <p:spPr>
          <a:xfrm>
            <a:off x="3824930" y="922713"/>
            <a:ext cx="3672764" cy="534828"/>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Business area will dynamically change the Value Stream and Cost </a:t>
            </a:r>
            <a:r>
              <a:rPr lang="en-GB" sz="1200" dirty="0" err="1">
                <a:solidFill>
                  <a:schemeClr val="tx1"/>
                </a:solidFill>
              </a:rPr>
              <a:t>Center</a:t>
            </a:r>
            <a:r>
              <a:rPr lang="en-GB" sz="1200" dirty="0">
                <a:solidFill>
                  <a:schemeClr val="tx1"/>
                </a:solidFill>
              </a:rPr>
              <a:t> selection options.</a:t>
            </a:r>
            <a:endParaRPr lang="en-GB" sz="1200" dirty="0"/>
          </a:p>
        </p:txBody>
      </p:sp>
      <p:sp>
        <p:nvSpPr>
          <p:cNvPr id="23" name="Rounded Rectangle 22"/>
          <p:cNvSpPr/>
          <p:nvPr/>
        </p:nvSpPr>
        <p:spPr>
          <a:xfrm>
            <a:off x="3208767" y="5333205"/>
            <a:ext cx="3413776" cy="1045824"/>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Clicking on a bar or line will show the data for that date.</a:t>
            </a:r>
          </a:p>
          <a:p>
            <a:pPr algn="ctr"/>
            <a:endParaRPr lang="en-GB" sz="1200" dirty="0">
              <a:solidFill>
                <a:schemeClr val="tx1"/>
              </a:solidFill>
            </a:endParaRPr>
          </a:p>
          <a:p>
            <a:pPr algn="ctr"/>
            <a:r>
              <a:rPr lang="en-GB" sz="1200" dirty="0">
                <a:solidFill>
                  <a:schemeClr val="tx1"/>
                </a:solidFill>
              </a:rPr>
              <a:t>Hovering the mouse over an area, bar, line or card will call out the latest data for that point.</a:t>
            </a:r>
          </a:p>
        </p:txBody>
      </p:sp>
      <p:sp>
        <p:nvSpPr>
          <p:cNvPr id="29" name="Rounded Rectangle 28"/>
          <p:cNvSpPr/>
          <p:nvPr/>
        </p:nvSpPr>
        <p:spPr>
          <a:xfrm>
            <a:off x="7717774" y="539531"/>
            <a:ext cx="1812448" cy="849210"/>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Hovering over the dropdown boxes and selecting the eraser will clear filter</a:t>
            </a:r>
          </a:p>
        </p:txBody>
      </p:sp>
      <p:pic>
        <p:nvPicPr>
          <p:cNvPr id="4" name="Picture 3"/>
          <p:cNvPicPr>
            <a:picLocks noChangeAspect="1"/>
          </p:cNvPicPr>
          <p:nvPr/>
        </p:nvPicPr>
        <p:blipFill>
          <a:blip r:embed="rId2"/>
          <a:stretch>
            <a:fillRect/>
          </a:stretch>
        </p:blipFill>
        <p:spPr>
          <a:xfrm>
            <a:off x="1872722" y="1521570"/>
            <a:ext cx="7515503" cy="3676433"/>
          </a:xfrm>
          <a:prstGeom prst="rect">
            <a:avLst/>
          </a:prstGeom>
        </p:spPr>
      </p:pic>
      <p:sp>
        <p:nvSpPr>
          <p:cNvPr id="5" name="Rectangle 4"/>
          <p:cNvSpPr/>
          <p:nvPr/>
        </p:nvSpPr>
        <p:spPr>
          <a:xfrm>
            <a:off x="1669143" y="3272971"/>
            <a:ext cx="1393371" cy="2035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ounded Rectangle 24"/>
          <p:cNvSpPr/>
          <p:nvPr/>
        </p:nvSpPr>
        <p:spPr>
          <a:xfrm>
            <a:off x="413657" y="3874431"/>
            <a:ext cx="2648856" cy="2684490"/>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The main graph shows the daily metric on the left y-axis, visualised as a bar chart, a cumulative metric on the right y-axis, visualised as a solid line with data points and a target visualised as a dashed line.</a:t>
            </a:r>
          </a:p>
          <a:p>
            <a:pPr algn="r"/>
            <a:endParaRPr lang="en-GB" sz="1200" dirty="0">
              <a:solidFill>
                <a:schemeClr val="tx1"/>
              </a:solidFill>
            </a:endParaRPr>
          </a:p>
          <a:p>
            <a:pPr algn="r"/>
            <a:r>
              <a:rPr lang="en-GB" sz="1200" dirty="0">
                <a:solidFill>
                  <a:schemeClr val="tx1"/>
                </a:solidFill>
              </a:rPr>
              <a:t>The bars are grouped for the areas, selecting a Cost </a:t>
            </a:r>
            <a:r>
              <a:rPr lang="en-GB" sz="1200" dirty="0" err="1">
                <a:solidFill>
                  <a:schemeClr val="tx1"/>
                </a:solidFill>
              </a:rPr>
              <a:t>Center</a:t>
            </a:r>
            <a:r>
              <a:rPr lang="en-GB" sz="1200" dirty="0">
                <a:solidFill>
                  <a:schemeClr val="tx1"/>
                </a:solidFill>
              </a:rPr>
              <a:t> will adjust the bar to show how that area contributes to the groups overall data.</a:t>
            </a:r>
            <a:endParaRPr lang="en-GB" sz="1200" dirty="0"/>
          </a:p>
        </p:txBody>
      </p:sp>
      <p:sp>
        <p:nvSpPr>
          <p:cNvPr id="26" name="Rounded Rectangle 25"/>
          <p:cNvSpPr/>
          <p:nvPr/>
        </p:nvSpPr>
        <p:spPr>
          <a:xfrm>
            <a:off x="194780" y="1419072"/>
            <a:ext cx="1563926" cy="2354641"/>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There are report pages for Productivity, Earned Hours and Attended Hours, with an additional two pages to view and filter through the raw data that drives the Report pages.</a:t>
            </a:r>
          </a:p>
        </p:txBody>
      </p:sp>
    </p:spTree>
    <p:extLst>
      <p:ext uri="{BB962C8B-B14F-4D97-AF65-F5344CB8AC3E}">
        <p14:creationId xmlns:p14="http://schemas.microsoft.com/office/powerpoint/2010/main" val="38165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9121432" y="358596"/>
            <a:ext cx="2553759" cy="358938"/>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Scroll down to view months graph.</a:t>
            </a:r>
            <a:endParaRPr lang="en-GB" sz="1200" dirty="0"/>
          </a:p>
        </p:txBody>
      </p:sp>
      <p:sp>
        <p:nvSpPr>
          <p:cNvPr id="21" name="Rounded Rectangle 20"/>
          <p:cNvSpPr/>
          <p:nvPr/>
        </p:nvSpPr>
        <p:spPr>
          <a:xfrm>
            <a:off x="4006265" y="2242210"/>
            <a:ext cx="3503717" cy="1925785"/>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main graph shows Daily data on the left y-axis, visualised as a bar chart, a Cumulative data on the right y-axis, visualised as a solid line with data points and a Target visualised as a dashed line.</a:t>
            </a:r>
          </a:p>
          <a:p>
            <a:endParaRPr lang="en-GB" sz="1200" dirty="0">
              <a:solidFill>
                <a:schemeClr val="tx1"/>
              </a:solidFill>
            </a:endParaRPr>
          </a:p>
          <a:p>
            <a:r>
              <a:rPr lang="en-GB" sz="1200" dirty="0">
                <a:solidFill>
                  <a:schemeClr val="tx1"/>
                </a:solidFill>
              </a:rPr>
              <a:t>In mobile view the graph is shows up to 9 days at a time, scrolling from left to right gives the user full visual of the month. </a:t>
            </a:r>
          </a:p>
        </p:txBody>
      </p:sp>
      <p:sp>
        <p:nvSpPr>
          <p:cNvPr id="25" name="Rounded Rectangle 24"/>
          <p:cNvSpPr/>
          <p:nvPr/>
        </p:nvSpPr>
        <p:spPr>
          <a:xfrm>
            <a:off x="8853501" y="4167995"/>
            <a:ext cx="2821690" cy="862692"/>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Select Pages from the ribbon that appears at the bottom or the dropdown from the top of the screen to view all pages.</a:t>
            </a:r>
          </a:p>
        </p:txBody>
      </p:sp>
      <p:sp>
        <p:nvSpPr>
          <p:cNvPr id="24" name="Rounded Rectangle 23"/>
          <p:cNvSpPr/>
          <p:nvPr/>
        </p:nvSpPr>
        <p:spPr>
          <a:xfrm>
            <a:off x="7629770" y="5980878"/>
            <a:ext cx="4045421" cy="530022"/>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Rotating your mobile horizontally will display the tracker into landscape mode.</a:t>
            </a:r>
          </a:p>
        </p:txBody>
      </p:sp>
      <p:sp>
        <p:nvSpPr>
          <p:cNvPr id="22" name="Rounded Rectangle 21"/>
          <p:cNvSpPr/>
          <p:nvPr/>
        </p:nvSpPr>
        <p:spPr>
          <a:xfrm>
            <a:off x="3864766" y="5200732"/>
            <a:ext cx="4291109" cy="540785"/>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Selecting a Business Area, Value Stream or individual Cost </a:t>
            </a:r>
            <a:r>
              <a:rPr lang="en-GB" sz="1200" dirty="0" err="1">
                <a:solidFill>
                  <a:schemeClr val="tx1"/>
                </a:solidFill>
              </a:rPr>
              <a:t>Center</a:t>
            </a:r>
            <a:r>
              <a:rPr lang="en-GB" sz="1200" dirty="0">
                <a:solidFill>
                  <a:schemeClr val="tx1"/>
                </a:solidFill>
              </a:rPr>
              <a:t> will update the charts and data to the selected area.</a:t>
            </a:r>
          </a:p>
        </p:txBody>
      </p:sp>
      <p:sp>
        <p:nvSpPr>
          <p:cNvPr id="13" name="Title 1"/>
          <p:cNvSpPr txBox="1">
            <a:spLocks/>
          </p:cNvSpPr>
          <p:nvPr/>
        </p:nvSpPr>
        <p:spPr>
          <a:xfrm>
            <a:off x="2038309" y="39124"/>
            <a:ext cx="4627894"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err="1">
                <a:solidFill>
                  <a:schemeClr val="tx1"/>
                </a:solidFill>
              </a:rPr>
              <a:t>PowerBi</a:t>
            </a:r>
            <a:r>
              <a:rPr lang="en-GB" sz="2000" dirty="0">
                <a:solidFill>
                  <a:schemeClr val="tx1"/>
                </a:solidFill>
              </a:rPr>
              <a:t> App - Productivity Report</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87768"/>
          <a:stretch/>
        </p:blipFill>
        <p:spPr>
          <a:xfrm>
            <a:off x="9164058" y="5116344"/>
            <a:ext cx="2468505" cy="537059"/>
          </a:xfrm>
          <a:prstGeom prst="rect">
            <a:avLst/>
          </a:prstGeom>
        </p:spPr>
      </p:pic>
      <p:sp>
        <p:nvSpPr>
          <p:cNvPr id="17" name="Rounded Rectangle 16"/>
          <p:cNvSpPr/>
          <p:nvPr/>
        </p:nvSpPr>
        <p:spPr>
          <a:xfrm>
            <a:off x="3956673" y="1158728"/>
            <a:ext cx="4944155" cy="874037"/>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data cards show the area that the data is showing for, Cumulative - Green is plus, Red is minus, Target, delta cumulative from target, and the previous days - if NA is shown the report hasn’t been updated or the month selection isn’t for the current month.</a:t>
            </a:r>
          </a:p>
        </p:txBody>
      </p:sp>
      <p:sp>
        <p:nvSpPr>
          <p:cNvPr id="23" name="Rounded Rectangle 22"/>
          <p:cNvSpPr/>
          <p:nvPr/>
        </p:nvSpPr>
        <p:spPr>
          <a:xfrm>
            <a:off x="3864766" y="5862144"/>
            <a:ext cx="2871832" cy="562274"/>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Drop down filtering for Dates and Business Area. </a:t>
            </a:r>
          </a:p>
        </p:txBody>
      </p:sp>
      <p:sp>
        <p:nvSpPr>
          <p:cNvPr id="27" name="Rounded Rectangle 26"/>
          <p:cNvSpPr/>
          <p:nvPr/>
        </p:nvSpPr>
        <p:spPr>
          <a:xfrm>
            <a:off x="3861454" y="4357938"/>
            <a:ext cx="4619485" cy="672749"/>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Green/Red visual shows what areas are above or below target. </a:t>
            </a:r>
          </a:p>
          <a:p>
            <a:endParaRPr lang="en-GB" sz="1200" dirty="0">
              <a:solidFill>
                <a:schemeClr val="tx1"/>
              </a:solidFill>
            </a:endParaRPr>
          </a:p>
          <a:p>
            <a:r>
              <a:rPr lang="en-GB" sz="1200" dirty="0">
                <a:solidFill>
                  <a:schemeClr val="tx1"/>
                </a:solidFill>
              </a:rPr>
              <a:t>The farther an area is from its target, the larger the box appears.</a:t>
            </a: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b="24233"/>
          <a:stretch/>
        </p:blipFill>
        <p:spPr>
          <a:xfrm>
            <a:off x="9206687" y="777689"/>
            <a:ext cx="2383250" cy="3211777"/>
          </a:xfrm>
          <a:prstGeom prst="rect">
            <a:avLst/>
          </a:prstGeom>
        </p:spPr>
      </p:pic>
      <p:pic>
        <p:nvPicPr>
          <p:cNvPr id="2" name="Picture 1"/>
          <p:cNvPicPr>
            <a:picLocks noChangeAspect="1"/>
          </p:cNvPicPr>
          <p:nvPr/>
        </p:nvPicPr>
        <p:blipFill rotWithShape="1">
          <a:blip r:embed="rId4" cstate="print">
            <a:extLst>
              <a:ext uri="{28A0092B-C50C-407E-A947-70E740481C1C}">
                <a14:useLocalDpi xmlns:a14="http://schemas.microsoft.com/office/drawing/2010/main" val="0"/>
              </a:ext>
            </a:extLst>
          </a:blip>
          <a:srcRect b="1658"/>
          <a:stretch/>
        </p:blipFill>
        <p:spPr>
          <a:xfrm>
            <a:off x="763113" y="1161962"/>
            <a:ext cx="2993710" cy="5236533"/>
          </a:xfrm>
          <a:prstGeom prst="rect">
            <a:avLst/>
          </a:prstGeom>
        </p:spPr>
      </p:pic>
    </p:spTree>
    <p:extLst>
      <p:ext uri="{BB962C8B-B14F-4D97-AF65-F5344CB8AC3E}">
        <p14:creationId xmlns:p14="http://schemas.microsoft.com/office/powerpoint/2010/main" val="390662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2038309" y="39124"/>
            <a:ext cx="4627894" cy="63894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232E45"/>
                </a:solidFill>
                <a:latin typeface="Arial" panose="020B0604020202020204" pitchFamily="34" charset="0"/>
                <a:ea typeface="+mj-ea"/>
                <a:cs typeface="Arial" panose="020B0604020202020204" pitchFamily="34" charset="0"/>
              </a:defRPr>
            </a:lvl1pPr>
          </a:lstStyle>
          <a:p>
            <a:r>
              <a:rPr lang="en-GB" sz="2000" dirty="0">
                <a:solidFill>
                  <a:schemeClr val="tx1"/>
                </a:solidFill>
              </a:rPr>
              <a:t>Exceptions Report</a:t>
            </a:r>
          </a:p>
        </p:txBody>
      </p:sp>
      <p:pic>
        <p:nvPicPr>
          <p:cNvPr id="3" name="Picture 2"/>
          <p:cNvPicPr>
            <a:picLocks noChangeAspect="1"/>
          </p:cNvPicPr>
          <p:nvPr/>
        </p:nvPicPr>
        <p:blipFill>
          <a:blip r:embed="rId2"/>
          <a:stretch>
            <a:fillRect/>
          </a:stretch>
        </p:blipFill>
        <p:spPr>
          <a:xfrm>
            <a:off x="631282" y="2004992"/>
            <a:ext cx="8258807" cy="4074472"/>
          </a:xfrm>
          <a:prstGeom prst="rect">
            <a:avLst/>
          </a:prstGeom>
        </p:spPr>
      </p:pic>
      <p:sp>
        <p:nvSpPr>
          <p:cNvPr id="15" name="Rounded Rectangle 14"/>
          <p:cNvSpPr/>
          <p:nvPr/>
        </p:nvSpPr>
        <p:spPr>
          <a:xfrm>
            <a:off x="906965" y="1087980"/>
            <a:ext cx="3650521" cy="775922"/>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Similar lay out and configuration to the Productivity Report. Designed to view the amount of exceptions in hours for any selected area.</a:t>
            </a:r>
          </a:p>
        </p:txBody>
      </p:sp>
      <p:sp>
        <p:nvSpPr>
          <p:cNvPr id="16" name="Rounded Rectangle 15"/>
          <p:cNvSpPr/>
          <p:nvPr/>
        </p:nvSpPr>
        <p:spPr>
          <a:xfrm>
            <a:off x="4963886" y="1087980"/>
            <a:ext cx="3868057" cy="775922"/>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The size of the area box relates to the number of exception hours in that area – bigger in size = larger number of hours.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1403" y="358596"/>
            <a:ext cx="2150215" cy="3824515"/>
          </a:xfrm>
          <a:prstGeom prst="rect">
            <a:avLst/>
          </a:prstGeom>
        </p:spPr>
      </p:pic>
      <p:sp>
        <p:nvSpPr>
          <p:cNvPr id="18" name="TextBox 17"/>
          <p:cNvSpPr txBox="1"/>
          <p:nvPr/>
        </p:nvSpPr>
        <p:spPr>
          <a:xfrm>
            <a:off x="7416889" y="6079464"/>
            <a:ext cx="1473200" cy="246221"/>
          </a:xfrm>
          <a:prstGeom prst="rect">
            <a:avLst/>
          </a:prstGeom>
          <a:noFill/>
        </p:spPr>
        <p:txBody>
          <a:bodyPr wrap="square" rtlCol="0">
            <a:spAutoFit/>
          </a:bodyPr>
          <a:lstStyle/>
          <a:p>
            <a:r>
              <a:rPr lang="en-GB" sz="1000" dirty="0"/>
              <a:t>Fabric on web browser</a:t>
            </a:r>
          </a:p>
        </p:txBody>
      </p:sp>
      <p:sp>
        <p:nvSpPr>
          <p:cNvPr id="19" name="TextBox 18"/>
          <p:cNvSpPr txBox="1"/>
          <p:nvPr/>
        </p:nvSpPr>
        <p:spPr>
          <a:xfrm>
            <a:off x="10160001" y="112375"/>
            <a:ext cx="1492418" cy="246221"/>
          </a:xfrm>
          <a:prstGeom prst="rect">
            <a:avLst/>
          </a:prstGeom>
          <a:noFill/>
        </p:spPr>
        <p:txBody>
          <a:bodyPr wrap="square" rtlCol="0">
            <a:spAutoFit/>
          </a:bodyPr>
          <a:lstStyle/>
          <a:p>
            <a:r>
              <a:rPr lang="en-GB" sz="1000" dirty="0" err="1"/>
              <a:t>PowerBi</a:t>
            </a:r>
            <a:r>
              <a:rPr lang="en-GB" sz="1000" dirty="0"/>
              <a:t> on mobile app</a:t>
            </a:r>
          </a:p>
        </p:txBody>
      </p:sp>
      <p:sp>
        <p:nvSpPr>
          <p:cNvPr id="20" name="Rounded Rectangle 19"/>
          <p:cNvSpPr/>
          <p:nvPr/>
        </p:nvSpPr>
        <p:spPr>
          <a:xfrm>
            <a:off x="8969829" y="4251628"/>
            <a:ext cx="2960914" cy="959001"/>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Simple donut chart to view each business area.</a:t>
            </a:r>
          </a:p>
          <a:p>
            <a:endParaRPr lang="en-GB" sz="1200" dirty="0">
              <a:solidFill>
                <a:schemeClr val="tx1"/>
              </a:solidFill>
            </a:endParaRPr>
          </a:p>
          <a:p>
            <a:r>
              <a:rPr lang="en-GB" sz="1200" dirty="0">
                <a:solidFill>
                  <a:schemeClr val="tx1"/>
                </a:solidFill>
              </a:rPr>
              <a:t>Scroll down on the mobile app to view.</a:t>
            </a:r>
          </a:p>
        </p:txBody>
      </p:sp>
      <p:sp>
        <p:nvSpPr>
          <p:cNvPr id="28" name="Rounded Rectangle 27"/>
          <p:cNvSpPr/>
          <p:nvPr/>
        </p:nvSpPr>
        <p:spPr>
          <a:xfrm>
            <a:off x="8969829" y="5366684"/>
            <a:ext cx="2960914" cy="959001"/>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tx1"/>
                </a:solidFill>
              </a:rPr>
              <a:t>Area selected, total number of exception hours for area/date selected and total for the previous day visual cards.</a:t>
            </a:r>
          </a:p>
        </p:txBody>
      </p:sp>
      <p:sp>
        <p:nvSpPr>
          <p:cNvPr id="29" name="Rounded Rectangle 28"/>
          <p:cNvSpPr/>
          <p:nvPr/>
        </p:nvSpPr>
        <p:spPr>
          <a:xfrm>
            <a:off x="377193" y="3097641"/>
            <a:ext cx="1567721" cy="792188"/>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There is a report and raw data page to view.</a:t>
            </a:r>
          </a:p>
        </p:txBody>
      </p:sp>
      <p:sp>
        <p:nvSpPr>
          <p:cNvPr id="30" name="Rounded Rectangle 29"/>
          <p:cNvSpPr/>
          <p:nvPr/>
        </p:nvSpPr>
        <p:spPr>
          <a:xfrm>
            <a:off x="6078904" y="235197"/>
            <a:ext cx="3251200" cy="377321"/>
          </a:xfrm>
          <a:prstGeom prst="roundRect">
            <a:avLst/>
          </a:prstGeom>
          <a:solidFill>
            <a:srgbClr val="232E45">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200" dirty="0">
                <a:solidFill>
                  <a:schemeClr val="tx1"/>
                </a:solidFill>
              </a:rPr>
              <a:t>Use the drop down to view page selection.</a:t>
            </a:r>
          </a:p>
        </p:txBody>
      </p:sp>
    </p:spTree>
    <p:extLst>
      <p:ext uri="{BB962C8B-B14F-4D97-AF65-F5344CB8AC3E}">
        <p14:creationId xmlns:p14="http://schemas.microsoft.com/office/powerpoint/2010/main" val="210094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a:off x="3559120" y="1"/>
            <a:ext cx="8640000" cy="6876000"/>
          </a:xfrm>
        </p:spPr>
      </p:pic>
      <p:sp>
        <p:nvSpPr>
          <p:cNvPr id="2" name="Slide Number Placeholder 1"/>
          <p:cNvSpPr>
            <a:spLocks noGrp="1"/>
          </p:cNvSpPr>
          <p:nvPr>
            <p:ph type="sldNum" sz="quarter" idx="11"/>
          </p:nvPr>
        </p:nvSpPr>
        <p:spPr/>
        <p:txBody>
          <a:bodyPr/>
          <a:lstStyle/>
          <a:p>
            <a:fld id="{37F9C675-962A-477F-BE3A-4AB30256F56A}" type="slidenum">
              <a:rPr lang="en-GB" smtClean="0"/>
              <a:t>8</a:t>
            </a:fld>
            <a:endParaRPr lang="en-GB"/>
          </a:p>
        </p:txBody>
      </p:sp>
      <p:pic>
        <p:nvPicPr>
          <p:cNvPr id="3" name="Picture 2"/>
          <p:cNvPicPr>
            <a:picLocks noChangeAspect="1"/>
          </p:cNvPicPr>
          <p:nvPr/>
        </p:nvPicPr>
        <p:blipFill>
          <a:blip r:embed="rId3"/>
          <a:stretch>
            <a:fillRect/>
          </a:stretch>
        </p:blipFill>
        <p:spPr>
          <a:xfrm>
            <a:off x="3331029" y="-49806"/>
            <a:ext cx="8948057" cy="6967189"/>
          </a:xfrm>
          <a:prstGeom prst="rect">
            <a:avLst/>
          </a:prstGeom>
        </p:spPr>
      </p:pic>
      <p:sp>
        <p:nvSpPr>
          <p:cNvPr id="13" name="Text Placeholder 12"/>
          <p:cNvSpPr>
            <a:spLocks noGrp="1"/>
          </p:cNvSpPr>
          <p:nvPr>
            <p:ph type="body" sz="quarter" idx="12"/>
          </p:nvPr>
        </p:nvSpPr>
        <p:spPr>
          <a:xfrm>
            <a:off x="617462" y="1560965"/>
            <a:ext cx="6189738" cy="3097440"/>
          </a:xfrm>
        </p:spPr>
        <p:txBody>
          <a:bodyPr>
            <a:normAutofit/>
          </a:bodyPr>
          <a:lstStyle/>
          <a:p>
            <a:r>
              <a:rPr lang="en-GB" sz="1400" dirty="0">
                <a:solidFill>
                  <a:schemeClr val="bg1"/>
                </a:solidFill>
              </a:rPr>
              <a:t>The dashboard is now live and ready to be shared with business leaders, along with this introduction pack. When sharing be aware and mindful of whom you allow sharing privileges.</a:t>
            </a:r>
          </a:p>
          <a:p>
            <a:r>
              <a:rPr lang="en-GB" sz="1400" dirty="0">
                <a:solidFill>
                  <a:schemeClr val="bg1"/>
                </a:solidFill>
              </a:rPr>
              <a:t>Additional reports/trackers are currently in development and will be released through the dashboard in due course, accompanied by further communications.</a:t>
            </a:r>
          </a:p>
          <a:p>
            <a:r>
              <a:rPr lang="en-GB" sz="1400" dirty="0">
                <a:solidFill>
                  <a:schemeClr val="bg1"/>
                </a:solidFill>
              </a:rPr>
              <a:t>We welcome any questions, feedback, or ideas to enhance the dashboard and trackers - please feel free to reach out to any member of the team. </a:t>
            </a:r>
            <a:endParaRPr lang="en-GB" sz="1050" dirty="0">
              <a:solidFill>
                <a:schemeClr val="bg1"/>
              </a:solidFill>
            </a:endParaRPr>
          </a:p>
        </p:txBody>
      </p:sp>
      <p:sp>
        <p:nvSpPr>
          <p:cNvPr id="8" name="Title 7"/>
          <p:cNvSpPr>
            <a:spLocks noGrp="1"/>
          </p:cNvSpPr>
          <p:nvPr>
            <p:ph type="title"/>
          </p:nvPr>
        </p:nvSpPr>
        <p:spPr>
          <a:xfrm>
            <a:off x="1511531" y="65868"/>
            <a:ext cx="7853413" cy="1213418"/>
          </a:xfrm>
        </p:spPr>
        <p:txBody>
          <a:bodyPr>
            <a:normAutofit/>
          </a:bodyPr>
          <a:lstStyle/>
          <a:p>
            <a:r>
              <a:rPr lang="en-GB" sz="2000" dirty="0">
                <a:solidFill>
                  <a:srgbClr val="FFCC33"/>
                </a:solidFill>
              </a:rPr>
              <a:t>Further Information</a:t>
            </a:r>
          </a:p>
        </p:txBody>
      </p:sp>
    </p:spTree>
    <p:extLst>
      <p:ext uri="{BB962C8B-B14F-4D97-AF65-F5344CB8AC3E}">
        <p14:creationId xmlns:p14="http://schemas.microsoft.com/office/powerpoint/2010/main" val="1079984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37F9C675-962A-477F-BE3A-4AB30256F56A}" type="slidenum">
              <a:rPr lang="en-GB" smtClean="0"/>
              <a:t>9</a:t>
            </a:fld>
            <a:endParaRPr lang="en-GB"/>
          </a:p>
        </p:txBody>
      </p:sp>
      <p:sp>
        <p:nvSpPr>
          <p:cNvPr id="7" name="Text Placeholder 4"/>
          <p:cNvSpPr txBox="1">
            <a:spLocks/>
          </p:cNvSpPr>
          <p:nvPr/>
        </p:nvSpPr>
        <p:spPr>
          <a:xfrm>
            <a:off x="763325" y="1409555"/>
            <a:ext cx="6918608" cy="5072016"/>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spcAft>
                <a:spcPts val="600"/>
              </a:spcAft>
              <a:buFont typeface="Arial" panose="020B0604020202020204" pitchFamily="34" charset="0"/>
              <a:buNone/>
              <a:defRPr sz="3800" b="1" kern="1200">
                <a:solidFill>
                  <a:schemeClr val="bg1"/>
                </a:solidFill>
                <a:latin typeface="+mn-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000" b="0" kern="1200">
                <a:solidFill>
                  <a:schemeClr val="bg1"/>
                </a:solidFill>
                <a:latin typeface="+mn-lt"/>
                <a:ea typeface="+mn-ea"/>
                <a:cs typeface="+mn-cs"/>
              </a:defRPr>
            </a:lvl2pPr>
            <a:lvl3pPr marL="0" indent="0" algn="l" defTabSz="914400" rtl="0" eaLnBrk="1" latinLnBrk="0" hangingPunct="1">
              <a:lnSpc>
                <a:spcPct val="100000"/>
              </a:lnSpc>
              <a:spcBef>
                <a:spcPts val="200"/>
              </a:spcBef>
              <a:spcAft>
                <a:spcPts val="200"/>
              </a:spcAft>
              <a:buFont typeface="Arial" panose="020B0604020202020204" pitchFamily="34" charset="0"/>
              <a:buNone/>
              <a:defRPr sz="2000" b="0" kern="1200">
                <a:solidFill>
                  <a:schemeClr val="bg1"/>
                </a:solidFill>
                <a:latin typeface="+mn-lt"/>
                <a:ea typeface="+mn-ea"/>
                <a:cs typeface="+mn-cs"/>
              </a:defRPr>
            </a:lvl3pPr>
            <a:lvl4pPr marL="0" indent="0" algn="l" defTabSz="914400" rtl="0" eaLnBrk="1" latinLnBrk="0" hangingPunct="1">
              <a:lnSpc>
                <a:spcPct val="100000"/>
              </a:lnSpc>
              <a:spcBef>
                <a:spcPts val="200"/>
              </a:spcBef>
              <a:spcAft>
                <a:spcPts val="200"/>
              </a:spcAft>
              <a:buFont typeface="Phoenix Sans" panose="02000504040101040103" pitchFamily="50" charset="0"/>
              <a:buNone/>
              <a:defRPr sz="2000" b="0" kern="1200">
                <a:solidFill>
                  <a:schemeClr val="bg1"/>
                </a:solidFill>
                <a:latin typeface="+mn-lt"/>
                <a:ea typeface="+mn-ea"/>
                <a:cs typeface="+mn-cs"/>
              </a:defRPr>
            </a:lvl4pPr>
            <a:lvl5pPr marL="0" indent="0" algn="l" defTabSz="914400" rtl="0" eaLnBrk="1" latinLnBrk="0" hangingPunct="1">
              <a:lnSpc>
                <a:spcPct val="100000"/>
              </a:lnSpc>
              <a:spcBef>
                <a:spcPts val="200"/>
              </a:spcBef>
              <a:spcAft>
                <a:spcPts val="200"/>
              </a:spcAft>
              <a:buFont typeface="Phoenix Sans" panose="02000504040101040103" pitchFamily="50" charset="0"/>
              <a:buNone/>
              <a:defRPr sz="2000" b="0" kern="1200">
                <a:solidFill>
                  <a:schemeClr val="bg1"/>
                </a:solidFill>
                <a:latin typeface="+mn-lt"/>
                <a:ea typeface="+mn-ea"/>
                <a:cs typeface="+mn-cs"/>
              </a:defRPr>
            </a:lvl5pPr>
            <a:lvl6pPr marL="0" indent="0" algn="l" defTabSz="914400" rtl="0" eaLnBrk="1" latinLnBrk="0" hangingPunct="1">
              <a:lnSpc>
                <a:spcPct val="100000"/>
              </a:lnSpc>
              <a:spcBef>
                <a:spcPts val="200"/>
              </a:spcBef>
              <a:spcAft>
                <a:spcPts val="200"/>
              </a:spcAft>
              <a:buFont typeface="Arial" panose="020B0604020202020204" pitchFamily="34" charset="0"/>
              <a:buNone/>
              <a:defRPr sz="2000" b="0" kern="1200">
                <a:solidFill>
                  <a:schemeClr val="bg1"/>
                </a:solidFill>
                <a:latin typeface="+mn-lt"/>
                <a:ea typeface="+mn-ea"/>
                <a:cs typeface="+mn-cs"/>
              </a:defRPr>
            </a:lvl6pPr>
            <a:lvl7pPr marL="0" indent="0" algn="l" defTabSz="914400" rtl="0" eaLnBrk="1" latinLnBrk="0" hangingPunct="1">
              <a:lnSpc>
                <a:spcPct val="100000"/>
              </a:lnSpc>
              <a:spcBef>
                <a:spcPts val="200"/>
              </a:spcBef>
              <a:spcAft>
                <a:spcPts val="200"/>
              </a:spcAft>
              <a:buFont typeface="Arial" panose="020B0604020202020204" pitchFamily="34" charset="0"/>
              <a:buNone/>
              <a:defRPr sz="2000" b="0" kern="1200">
                <a:solidFill>
                  <a:schemeClr val="bg1"/>
                </a:solidFill>
                <a:latin typeface="+mn-lt"/>
                <a:ea typeface="+mn-ea"/>
                <a:cs typeface="+mn-cs"/>
              </a:defRPr>
            </a:lvl7pPr>
            <a:lvl8pPr marL="0" indent="0" algn="l" defTabSz="914400" rtl="0" eaLnBrk="1" latinLnBrk="0" hangingPunct="1">
              <a:lnSpc>
                <a:spcPct val="100000"/>
              </a:lnSpc>
              <a:spcBef>
                <a:spcPts val="200"/>
              </a:spcBef>
              <a:spcAft>
                <a:spcPts val="200"/>
              </a:spcAft>
              <a:buFont typeface="Arial" panose="020B0604020202020204" pitchFamily="34" charset="0"/>
              <a:buNone/>
              <a:defRPr sz="2000" b="0" kern="1200">
                <a:solidFill>
                  <a:schemeClr val="bg1"/>
                </a:solidFill>
                <a:latin typeface="+mn-lt"/>
                <a:ea typeface="+mn-ea"/>
                <a:cs typeface="+mn-cs"/>
              </a:defRPr>
            </a:lvl8pPr>
            <a:lvl9pPr marL="0" indent="0" algn="l" defTabSz="914400" rtl="0" eaLnBrk="1" latinLnBrk="0" hangingPunct="1">
              <a:lnSpc>
                <a:spcPct val="100000"/>
              </a:lnSpc>
              <a:spcBef>
                <a:spcPts val="200"/>
              </a:spcBef>
              <a:spcAft>
                <a:spcPts val="200"/>
              </a:spcAft>
              <a:buFont typeface="Phoenix Sans" panose="02000504040101040103" pitchFamily="50" charset="0"/>
              <a:buNone/>
              <a:defRPr sz="2000" b="0" kern="1200">
                <a:solidFill>
                  <a:schemeClr val="bg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GB" sz="2800" b="0" i="0" u="none" strike="noStrike" kern="1200" cap="none" spc="0" normalizeH="0" baseline="0" noProof="0" dirty="0">
                <a:ln>
                  <a:noFill/>
                </a:ln>
                <a:solidFill>
                  <a:srgbClr val="FFFFFF"/>
                </a:solidFill>
                <a:effectLst/>
                <a:uLnTx/>
                <a:uFillTx/>
                <a:latin typeface="Arial"/>
                <a:ea typeface="+mn-ea"/>
                <a:cs typeface="+mn-cs"/>
              </a:rPr>
              <a:t>OpEx. Team Mission:</a:t>
            </a:r>
          </a:p>
          <a:p>
            <a:r>
              <a:rPr lang="en-GB" sz="2800" dirty="0"/>
              <a:t>Our mission is to drive </a:t>
            </a:r>
            <a:r>
              <a:rPr lang="en-GB" sz="2800" dirty="0">
                <a:solidFill>
                  <a:srgbClr val="FFC000"/>
                </a:solidFill>
              </a:rPr>
              <a:t>Operational Excellence</a:t>
            </a:r>
            <a:r>
              <a:rPr lang="en-GB" sz="2800" dirty="0"/>
              <a:t> through </a:t>
            </a:r>
            <a:r>
              <a:rPr lang="en-GB" sz="2800" dirty="0">
                <a:solidFill>
                  <a:srgbClr val="FFC000"/>
                </a:solidFill>
              </a:rPr>
              <a:t>Continuous</a:t>
            </a:r>
            <a:r>
              <a:rPr lang="en-GB" sz="2800" dirty="0"/>
              <a:t> </a:t>
            </a:r>
            <a:r>
              <a:rPr lang="en-GB" sz="2800" dirty="0">
                <a:solidFill>
                  <a:srgbClr val="FFC000"/>
                </a:solidFill>
              </a:rPr>
              <a:t>Improvement</a:t>
            </a:r>
            <a:r>
              <a:rPr lang="en-GB" sz="2800" dirty="0"/>
              <a:t>, </a:t>
            </a:r>
            <a:r>
              <a:rPr lang="en-GB" sz="2800" dirty="0">
                <a:solidFill>
                  <a:srgbClr val="FFC000"/>
                </a:solidFill>
              </a:rPr>
              <a:t>Innovation</a:t>
            </a:r>
            <a:r>
              <a:rPr lang="en-GB" sz="2800" dirty="0"/>
              <a:t>, and </a:t>
            </a:r>
            <a:r>
              <a:rPr lang="en-GB" sz="2800" dirty="0">
                <a:solidFill>
                  <a:srgbClr val="FFC000"/>
                </a:solidFill>
              </a:rPr>
              <a:t>Efficiency</a:t>
            </a:r>
            <a:r>
              <a:rPr lang="en-GB" sz="2800" dirty="0"/>
              <a:t>. We foster a </a:t>
            </a:r>
            <a:r>
              <a:rPr lang="en-GB" sz="2800" dirty="0">
                <a:solidFill>
                  <a:srgbClr val="FFC000"/>
                </a:solidFill>
              </a:rPr>
              <a:t>Positive</a:t>
            </a:r>
            <a:r>
              <a:rPr lang="en-GB" sz="2800" dirty="0"/>
              <a:t>, </a:t>
            </a:r>
            <a:r>
              <a:rPr lang="en-GB" sz="2800" dirty="0">
                <a:solidFill>
                  <a:srgbClr val="FFC000"/>
                </a:solidFill>
              </a:rPr>
              <a:t>Inclusive</a:t>
            </a:r>
            <a:r>
              <a:rPr lang="en-GB" sz="2800" dirty="0"/>
              <a:t> workplace that enhances </a:t>
            </a:r>
            <a:r>
              <a:rPr lang="en-GB" sz="2800" dirty="0">
                <a:solidFill>
                  <a:srgbClr val="FFC000"/>
                </a:solidFill>
              </a:rPr>
              <a:t>Wellbeing</a:t>
            </a:r>
            <a:r>
              <a:rPr lang="en-GB" sz="2800" dirty="0"/>
              <a:t>, </a:t>
            </a:r>
            <a:r>
              <a:rPr lang="en-GB" sz="2800" dirty="0">
                <a:solidFill>
                  <a:srgbClr val="FFC000"/>
                </a:solidFill>
              </a:rPr>
              <a:t>Boosts</a:t>
            </a:r>
            <a:r>
              <a:rPr lang="en-GB" sz="2800" dirty="0"/>
              <a:t> productivity, and delivers lasting value to our stakeholders for </a:t>
            </a:r>
            <a:r>
              <a:rPr lang="en-GB" sz="2800" dirty="0">
                <a:solidFill>
                  <a:srgbClr val="FFC000"/>
                </a:solidFill>
              </a:rPr>
              <a:t>Sustainable</a:t>
            </a:r>
            <a:r>
              <a:rPr lang="en-GB" sz="2800" dirty="0"/>
              <a:t> growth.</a:t>
            </a:r>
          </a:p>
        </p:txBody>
      </p:sp>
    </p:spTree>
    <p:extLst>
      <p:ext uri="{BB962C8B-B14F-4D97-AF65-F5344CB8AC3E}">
        <p14:creationId xmlns:p14="http://schemas.microsoft.com/office/powerpoint/2010/main" val="4020990559"/>
      </p:ext>
    </p:extLst>
  </p:cSld>
  <p:clrMapOvr>
    <a:masterClrMapping/>
  </p:clrMapOvr>
</p:sld>
</file>

<file path=ppt/theme/theme1.xml><?xml version="1.0" encoding="utf-8"?>
<a:theme xmlns:a="http://schemas.openxmlformats.org/drawingml/2006/main" name="Office Theme">
  <a:themeElements>
    <a:clrScheme name="GKNA Colour Palette">
      <a:dk1>
        <a:srgbClr val="232E45"/>
      </a:dk1>
      <a:lt1>
        <a:srgbClr val="FFFFFF"/>
      </a:lt1>
      <a:dk2>
        <a:srgbClr val="232E45"/>
      </a:dk2>
      <a:lt2>
        <a:srgbClr val="E7E6E6"/>
      </a:lt2>
      <a:accent1>
        <a:srgbClr val="232E45"/>
      </a:accent1>
      <a:accent2>
        <a:srgbClr val="336699"/>
      </a:accent2>
      <a:accent3>
        <a:srgbClr val="FFCC33"/>
      </a:accent3>
      <a:accent4>
        <a:srgbClr val="A4A4A8"/>
      </a:accent4>
      <a:accent5>
        <a:srgbClr val="7094B7"/>
      </a:accent5>
      <a:accent6>
        <a:srgbClr val="FEE6A1"/>
      </a:accent6>
      <a:hlink>
        <a:srgbClr val="232E45"/>
      </a:hlink>
      <a:folHlink>
        <a:srgbClr val="3366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1323</TotalTime>
  <Words>1236</Words>
  <Application>Microsoft Office PowerPoint</Application>
  <PresentationFormat>Widescreen</PresentationFormat>
  <Paragraphs>94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Century Gothic</vt:lpstr>
      <vt:lpstr>Segoe UI</vt:lpstr>
      <vt:lpstr>Univia Pro</vt:lpstr>
      <vt:lpstr>Univia Pro 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Further Information</vt:lpstr>
      <vt:lpstr>PowerPoint Presentation</vt:lpstr>
    </vt:vector>
  </TitlesOfParts>
  <Company>GKN Aerospace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Hooper, Fiona</dc:creator>
  <cp:lastModifiedBy>Llewelyn, Louis</cp:lastModifiedBy>
  <cp:revision>140</cp:revision>
  <dcterms:created xsi:type="dcterms:W3CDTF">2024-07-02T14:07:17Z</dcterms:created>
  <dcterms:modified xsi:type="dcterms:W3CDTF">2025-09-22T10:14:17Z</dcterms:modified>
</cp:coreProperties>
</file>